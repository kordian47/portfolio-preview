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grid: add the capstone card first with the Featured badge. Uses "Status:" instead of "Result:" until test results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dimmed hero-system-iso.png as the background, same as the garden page hero.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Text 5"/>
          <p:cNvSpPr txBox="1"/>
          <p:nvPr/>
        </p:nvSpPr>
        <p:spPr>
          <a:xfrm>
            <a:off x="548640" y="868680"/>
            <a:ext cx="731520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Projects page: new card (placed first)</a:t>
            </a:r>
            <a:endParaRPr lang="en-US" sz="2600" dirty="0"/>
          </a:p>
        </p:txBody>
      </p:sp>
      <p:sp>
        <p:nvSpPr>
          <p:cNvPr id="8" name="Text 6"/>
          <p:cNvSpPr txBox="1"/>
          <p:nvPr/>
        </p:nvSpPr>
        <p:spPr>
          <a:xfrm>
            <a:off x="548640" y="1371600"/>
            <a:ext cx="914400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A new "Featured" card leads the grid; the garden project card moves to second.</a:t>
            </a:r>
            <a:endParaRPr lang="en-US" sz="1300" dirty="0"/>
          </a:p>
        </p:txBody>
      </p:sp>
      <p:sp>
        <p:nvSpPr>
          <p:cNvPr id="9" name="Shape 7"/>
          <p:cNvSpPr/>
          <p:nvPr/>
        </p:nvSpPr>
        <p:spPr>
          <a:xfrm>
            <a:off x="548640" y="1920240"/>
            <a:ext cx="3566160" cy="4572000"/>
          </a:xfrm>
          <a:prstGeom prst="roundRect">
            <a:avLst>
              <a:gd name="adj" fmla="val 2051"/>
            </a:avLst>
          </a:prstGeom>
          <a:solidFill>
            <a:srgbClr val="172231"/>
          </a:solidFill>
          <a:ln w="9525">
            <a:solidFill>
              <a:srgbClr val="2A3A4E"/>
            </a:solidFill>
            <a:prstDash val="solid"/>
          </a:ln>
        </p:spPr>
      </p:sp>
      <p:sp>
        <p:nvSpPr>
          <p:cNvPr id="10" name="Shape 8"/>
          <p:cNvSpPr/>
          <p:nvPr/>
        </p:nvSpPr>
        <p:spPr>
          <a:xfrm>
            <a:off x="566928" y="1938528"/>
            <a:ext cx="3529584" cy="1828800"/>
          </a:xfrm>
          <a:prstGeom prst="rect">
            <a:avLst/>
          </a:prstGeom>
          <a:solidFill>
            <a:srgbClr val="FFFFFF"/>
          </a:solidFill>
          <a:ln w="12700">
            <a:solidFill>
              <a:srgbClr val="FFFFFF"/>
            </a:solidFill>
            <a:prstDash val="solid"/>
          </a:ln>
        </p:spPr>
      </p:sp>
      <p:pic>
        <p:nvPicPr>
          <p:cNvPr id="11" name="Image 0" descr="tshirt-stacker/images/hero-system-iso.png">    </p:cNvPr>
          <p:cNvPicPr>
            <a:picLocks noChangeAspect="1"/>
          </p:cNvPicPr>
          <p:nvPr/>
        </p:nvPicPr>
        <p:blipFill>
          <a:blip r:embed="rId1"/>
          <a:stretch>
            <a:fillRect/>
          </a:stretch>
        </p:blipFill>
        <p:spPr>
          <a:xfrm>
            <a:off x="1268235" y="1984248"/>
            <a:ext cx="2126970" cy="1737360"/>
          </a:xfrm>
          <a:prstGeom prst="rect">
            <a:avLst/>
          </a:prstGeom>
        </p:spPr>
      </p:pic>
      <p:sp>
        <p:nvSpPr>
          <p:cNvPr id="12" name="Shape 9"/>
          <p:cNvSpPr/>
          <p:nvPr/>
        </p:nvSpPr>
        <p:spPr>
          <a:xfrm>
            <a:off x="3154680" y="2057400"/>
            <a:ext cx="822960" cy="256032"/>
          </a:xfrm>
          <a:prstGeom prst="roundRect">
            <a:avLst>
              <a:gd name="adj" fmla="val 14286"/>
            </a:avLst>
          </a:prstGeom>
          <a:solidFill>
            <a:srgbClr val="1E9BE3"/>
          </a:solidFill>
          <a:ln w="12700">
            <a:solidFill>
              <a:srgbClr val="1E9BE3"/>
            </a:solidFill>
            <a:prstDash val="solid"/>
          </a:ln>
        </p:spPr>
      </p:sp>
      <p:sp>
        <p:nvSpPr>
          <p:cNvPr id="13" name="Text 10"/>
          <p:cNvSpPr txBox="1"/>
          <p:nvPr/>
        </p:nvSpPr>
        <p:spPr>
          <a:xfrm>
            <a:off x="3154680" y="2057400"/>
            <a:ext cx="822960" cy="256032"/>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Featured</a:t>
            </a:r>
            <a:endParaRPr lang="en-US" sz="900" dirty="0"/>
          </a:p>
        </p:txBody>
      </p:sp>
      <p:sp>
        <p:nvSpPr>
          <p:cNvPr id="14" name="Text 11"/>
          <p:cNvSpPr txBox="1"/>
          <p:nvPr/>
        </p:nvSpPr>
        <p:spPr>
          <a:xfrm>
            <a:off x="777240" y="3931920"/>
            <a:ext cx="3108960" cy="320040"/>
          </a:xfrm>
          <a:prstGeom prst="rect">
            <a:avLst/>
          </a:prstGeom>
          <a:noFill/>
          <a:ln/>
        </p:spPr>
        <p:txBody>
          <a:bodyPr wrap="square" lIns="0" tIns="0" rIns="0" bIns="0" rtlCol="0" anchor="t"/>
          <a:lstStyle/>
          <a:p>
            <a:pPr indent="0" marL="0">
              <a:buNone/>
            </a:pPr>
            <a:r>
              <a:rPr lang="en-US" sz="1500" b="1" dirty="0">
                <a:solidFill>
                  <a:srgbClr val="E8EDF2"/>
                </a:solidFill>
                <a:latin typeface="Arial" pitchFamily="34" charset="0"/>
                <a:ea typeface="Arial" pitchFamily="34" charset="-122"/>
                <a:cs typeface="Arial" pitchFamily="34" charset="-120"/>
              </a:rPr>
              <a:t>Automated T-Shirt Stacker</a:t>
            </a:r>
            <a:endParaRPr lang="en-US" sz="1500" dirty="0"/>
          </a:p>
        </p:txBody>
      </p:sp>
      <p:sp>
        <p:nvSpPr>
          <p:cNvPr id="15" name="Text 12"/>
          <p:cNvSpPr txBox="1"/>
          <p:nvPr/>
        </p:nvSpPr>
        <p:spPr>
          <a:xfrm>
            <a:off x="777240" y="4315968"/>
            <a:ext cx="3108960" cy="73152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Senior capstone: a machine that catches garments coming off a screen-printing dryer and builds neat, stable stacks automatically.</a:t>
            </a:r>
            <a:endParaRPr lang="en-US" sz="1050" dirty="0"/>
          </a:p>
        </p:txBody>
      </p:sp>
      <p:sp>
        <p:nvSpPr>
          <p:cNvPr id="16" name="Shape 13"/>
          <p:cNvSpPr/>
          <p:nvPr/>
        </p:nvSpPr>
        <p:spPr>
          <a:xfrm>
            <a:off x="777240" y="5120640"/>
            <a:ext cx="874166" cy="219456"/>
          </a:xfrm>
          <a:prstGeom prst="roundRect">
            <a:avLst>
              <a:gd name="adj" fmla="val 16667"/>
            </a:avLst>
          </a:prstGeom>
          <a:solidFill>
            <a:srgbClr val="0F1620"/>
          </a:solidFill>
          <a:ln w="12700">
            <a:solidFill>
              <a:srgbClr val="22C3E6"/>
            </a:solidFill>
            <a:prstDash val="solid"/>
          </a:ln>
        </p:spPr>
      </p:sp>
      <p:sp>
        <p:nvSpPr>
          <p:cNvPr id="17" name="Text 14"/>
          <p:cNvSpPr txBox="1"/>
          <p:nvPr/>
        </p:nvSpPr>
        <p:spPr>
          <a:xfrm>
            <a:off x="777240" y="5120640"/>
            <a:ext cx="874166" cy="219456"/>
          </a:xfrm>
          <a:prstGeom prst="rect">
            <a:avLst/>
          </a:prstGeom>
          <a:noFill/>
          <a:ln/>
        </p:spPr>
        <p:txBody>
          <a:bodyPr wrap="square" lIns="0" tIns="0" rIns="0" bIns="0" rtlCol="0" anchor="ctr"/>
          <a:lstStyle/>
          <a:p>
            <a:pPr algn="ctr" indent="0" marL="0">
              <a:buNone/>
            </a:pPr>
            <a:r>
              <a:rPr lang="en-US" sz="800" b="1" dirty="0">
                <a:solidFill>
                  <a:srgbClr val="22C3E6"/>
                </a:solidFill>
                <a:latin typeface="Arial" pitchFamily="34" charset="0"/>
                <a:ea typeface="Arial" pitchFamily="34" charset="-122"/>
                <a:cs typeface="Arial" pitchFamily="34" charset="-120"/>
              </a:rPr>
              <a:t>Mechanical</a:t>
            </a:r>
            <a:endParaRPr lang="en-US" sz="800" dirty="0"/>
          </a:p>
        </p:txBody>
      </p:sp>
      <p:sp>
        <p:nvSpPr>
          <p:cNvPr id="18" name="Shape 15"/>
          <p:cNvSpPr/>
          <p:nvPr/>
        </p:nvSpPr>
        <p:spPr>
          <a:xfrm>
            <a:off x="1761134" y="5120640"/>
            <a:ext cx="874166" cy="219456"/>
          </a:xfrm>
          <a:prstGeom prst="roundRect">
            <a:avLst>
              <a:gd name="adj" fmla="val 16667"/>
            </a:avLst>
          </a:prstGeom>
          <a:solidFill>
            <a:srgbClr val="0F1620"/>
          </a:solidFill>
          <a:ln w="12700">
            <a:solidFill>
              <a:srgbClr val="F2A33A"/>
            </a:solidFill>
            <a:prstDash val="solid"/>
          </a:ln>
        </p:spPr>
      </p:sp>
      <p:sp>
        <p:nvSpPr>
          <p:cNvPr id="19" name="Text 16"/>
          <p:cNvSpPr txBox="1"/>
          <p:nvPr/>
        </p:nvSpPr>
        <p:spPr>
          <a:xfrm>
            <a:off x="1761134" y="5120640"/>
            <a:ext cx="874166" cy="219456"/>
          </a:xfrm>
          <a:prstGeom prst="rect">
            <a:avLst/>
          </a:prstGeom>
          <a:noFill/>
          <a:ln/>
        </p:spPr>
        <p:txBody>
          <a:bodyPr wrap="square" lIns="0" tIns="0" rIns="0" bIns="0" rtlCol="0" anchor="ctr"/>
          <a:lstStyle/>
          <a:p>
            <a:pPr algn="ctr" indent="0" marL="0">
              <a:buNone/>
            </a:pPr>
            <a:r>
              <a:rPr lang="en-US" sz="800" b="1" dirty="0">
                <a:solidFill>
                  <a:srgbClr val="F2A33A"/>
                </a:solidFill>
                <a:latin typeface="Arial" pitchFamily="34" charset="0"/>
                <a:ea typeface="Arial" pitchFamily="34" charset="-122"/>
                <a:cs typeface="Arial" pitchFamily="34" charset="-120"/>
              </a:rPr>
              <a:t>Electrical</a:t>
            </a:r>
            <a:endParaRPr lang="en-US" sz="800" dirty="0"/>
          </a:p>
        </p:txBody>
      </p:sp>
      <p:sp>
        <p:nvSpPr>
          <p:cNvPr id="20" name="Shape 17"/>
          <p:cNvSpPr/>
          <p:nvPr/>
        </p:nvSpPr>
        <p:spPr>
          <a:xfrm>
            <a:off x="2745029" y="5120640"/>
            <a:ext cx="754197" cy="219456"/>
          </a:xfrm>
          <a:prstGeom prst="roundRect">
            <a:avLst>
              <a:gd name="adj" fmla="val 16667"/>
            </a:avLst>
          </a:prstGeom>
          <a:solidFill>
            <a:srgbClr val="0F1620"/>
          </a:solidFill>
          <a:ln w="12700">
            <a:solidFill>
              <a:srgbClr val="2BC48A"/>
            </a:solidFill>
            <a:prstDash val="solid"/>
          </a:ln>
        </p:spPr>
      </p:sp>
      <p:sp>
        <p:nvSpPr>
          <p:cNvPr id="21" name="Text 18"/>
          <p:cNvSpPr txBox="1"/>
          <p:nvPr/>
        </p:nvSpPr>
        <p:spPr>
          <a:xfrm>
            <a:off x="2745029" y="5120640"/>
            <a:ext cx="754197" cy="219456"/>
          </a:xfrm>
          <a:prstGeom prst="rect">
            <a:avLst/>
          </a:prstGeom>
          <a:noFill/>
          <a:ln/>
        </p:spPr>
        <p:txBody>
          <a:bodyPr wrap="square" lIns="0" tIns="0" rIns="0" bIns="0" rtlCol="0" anchor="ctr"/>
          <a:lstStyle/>
          <a:p>
            <a:pPr algn="ctr" indent="0" marL="0">
              <a:buNone/>
            </a:pPr>
            <a:r>
              <a:rPr lang="en-US" sz="800" b="1" dirty="0">
                <a:solidFill>
                  <a:srgbClr val="2BC48A"/>
                </a:solidFill>
                <a:latin typeface="Arial" pitchFamily="34" charset="0"/>
                <a:ea typeface="Arial" pitchFamily="34" charset="-122"/>
                <a:cs typeface="Arial" pitchFamily="34" charset="-120"/>
              </a:rPr>
              <a:t>Controls</a:t>
            </a:r>
            <a:endParaRPr lang="en-US" sz="800" dirty="0"/>
          </a:p>
        </p:txBody>
      </p:sp>
      <p:sp>
        <p:nvSpPr>
          <p:cNvPr id="22" name="Shape 19"/>
          <p:cNvSpPr/>
          <p:nvPr/>
        </p:nvSpPr>
        <p:spPr>
          <a:xfrm>
            <a:off x="777240" y="5394960"/>
            <a:ext cx="754197" cy="219456"/>
          </a:xfrm>
          <a:prstGeom prst="roundRect">
            <a:avLst>
              <a:gd name="adj" fmla="val 16667"/>
            </a:avLst>
          </a:prstGeom>
          <a:solidFill>
            <a:srgbClr val="0F1620"/>
          </a:solidFill>
          <a:ln w="12700">
            <a:solidFill>
              <a:srgbClr val="9B7BF0"/>
            </a:solidFill>
            <a:prstDash val="solid"/>
          </a:ln>
        </p:spPr>
      </p:sp>
      <p:sp>
        <p:nvSpPr>
          <p:cNvPr id="23" name="Text 20"/>
          <p:cNvSpPr txBox="1"/>
          <p:nvPr/>
        </p:nvSpPr>
        <p:spPr>
          <a:xfrm>
            <a:off x="777240" y="5394960"/>
            <a:ext cx="754197" cy="219456"/>
          </a:xfrm>
          <a:prstGeom prst="rect">
            <a:avLst/>
          </a:prstGeom>
          <a:noFill/>
          <a:ln/>
        </p:spPr>
        <p:txBody>
          <a:bodyPr wrap="square" lIns="0" tIns="0" rIns="0" bIns="0" rtlCol="0" anchor="ctr"/>
          <a:lstStyle/>
          <a:p>
            <a:pPr algn="ctr" indent="0" marL="0">
              <a:buNone/>
            </a:pPr>
            <a:r>
              <a:rPr lang="en-US" sz="800" b="1" dirty="0">
                <a:solidFill>
                  <a:srgbClr val="9B7BF0"/>
                </a:solidFill>
                <a:latin typeface="Arial" pitchFamily="34" charset="0"/>
                <a:ea typeface="Arial" pitchFamily="34" charset="-122"/>
                <a:cs typeface="Arial" pitchFamily="34" charset="-120"/>
              </a:rPr>
              <a:t>Software</a:t>
            </a:r>
            <a:endParaRPr lang="en-US" sz="800" dirty="0"/>
          </a:p>
        </p:txBody>
      </p:sp>
      <p:sp>
        <p:nvSpPr>
          <p:cNvPr id="24" name="Shape 21"/>
          <p:cNvSpPr/>
          <p:nvPr/>
        </p:nvSpPr>
        <p:spPr>
          <a:xfrm>
            <a:off x="1641165" y="5394960"/>
            <a:ext cx="1054120" cy="219456"/>
          </a:xfrm>
          <a:prstGeom prst="roundRect">
            <a:avLst>
              <a:gd name="adj" fmla="val 16667"/>
            </a:avLst>
          </a:prstGeom>
          <a:solidFill>
            <a:srgbClr val="0F1620"/>
          </a:solidFill>
          <a:ln w="12700">
            <a:solidFill>
              <a:srgbClr val="F0566E"/>
            </a:solidFill>
            <a:prstDash val="solid"/>
          </a:ln>
        </p:spPr>
      </p:sp>
      <p:sp>
        <p:nvSpPr>
          <p:cNvPr id="25" name="Text 22"/>
          <p:cNvSpPr txBox="1"/>
          <p:nvPr/>
        </p:nvSpPr>
        <p:spPr>
          <a:xfrm>
            <a:off x="1641165" y="5394960"/>
            <a:ext cx="1054120" cy="219456"/>
          </a:xfrm>
          <a:prstGeom prst="rect">
            <a:avLst/>
          </a:prstGeom>
          <a:noFill/>
          <a:ln/>
        </p:spPr>
        <p:txBody>
          <a:bodyPr wrap="square" lIns="0" tIns="0" rIns="0" bIns="0" rtlCol="0" anchor="ctr"/>
          <a:lstStyle/>
          <a:p>
            <a:pPr algn="ctr" indent="0" marL="0">
              <a:buNone/>
            </a:pPr>
            <a:r>
              <a:rPr lang="en-US" sz="800" b="1" dirty="0">
                <a:solidFill>
                  <a:srgbClr val="F0566E"/>
                </a:solidFill>
                <a:latin typeface="Arial" pitchFamily="34" charset="0"/>
                <a:ea typeface="Arial" pitchFamily="34" charset="-122"/>
                <a:cs typeface="Arial" pitchFamily="34" charset="-120"/>
              </a:rPr>
              <a:t>Manufacturing</a:t>
            </a:r>
            <a:endParaRPr lang="en-US" sz="800" dirty="0"/>
          </a:p>
        </p:txBody>
      </p:sp>
      <p:sp>
        <p:nvSpPr>
          <p:cNvPr id="26" name="Text 23"/>
          <p:cNvSpPr txBox="1"/>
          <p:nvPr/>
        </p:nvSpPr>
        <p:spPr>
          <a:xfrm>
            <a:off x="777240" y="5715000"/>
            <a:ext cx="3108960" cy="457200"/>
          </a:xfrm>
          <a:prstGeom prst="rect">
            <a:avLst/>
          </a:prstGeom>
          <a:noFill/>
          <a:ln/>
        </p:spPr>
        <p:txBody>
          <a:bodyPr wrap="square" lIns="0" tIns="0" rIns="0" bIns="0" rtlCol="0" anchor="t"/>
          <a:lstStyle/>
          <a:p>
            <a:pPr indent="0" marL="0">
              <a:buNone/>
            </a:pPr>
            <a:r>
              <a:rPr lang="en-US" sz="1000" b="1" dirty="0">
                <a:solidFill>
                  <a:srgbClr val="E8EDF2"/>
                </a:solidFill>
                <a:latin typeface="Arial" pitchFamily="34" charset="0"/>
                <a:ea typeface="Arial" pitchFamily="34" charset="-122"/>
                <a:cs typeface="Arial" pitchFamily="34" charset="-120"/>
              </a:rPr>
              <a:t>Status: </a:t>
            </a:r>
            <a:pPr indent="0" marL="0">
              <a:buNone/>
            </a:pPr>
            <a:r>
              <a:rPr lang="en-US" sz="1000" dirty="0">
                <a:solidFill>
                  <a:srgbClr val="93A1B0"/>
                </a:solidFill>
                <a:latin typeface="Arial" pitchFamily="34" charset="0"/>
                <a:ea typeface="Arial" pitchFamily="34" charset="-122"/>
                <a:cs typeface="Arial" pitchFamily="34" charset="-120"/>
              </a:rPr>
              <a:t>In fabrication. Prototype rollout Nov 2026, Design Fair Dec 2026.</a:t>
            </a:r>
            <a:endParaRPr lang="en-US" sz="1000" dirty="0"/>
          </a:p>
        </p:txBody>
      </p:sp>
      <p:sp>
        <p:nvSpPr>
          <p:cNvPr id="27" name="Text 24"/>
          <p:cNvSpPr txBox="1"/>
          <p:nvPr/>
        </p:nvSpPr>
        <p:spPr>
          <a:xfrm>
            <a:off x="777240" y="6172200"/>
            <a:ext cx="1828800" cy="228600"/>
          </a:xfrm>
          <a:prstGeom prst="rect">
            <a:avLst/>
          </a:prstGeom>
          <a:noFill/>
          <a:ln/>
        </p:spPr>
        <p:txBody>
          <a:bodyPr wrap="square" lIns="0" tIns="0" rIns="0" bIns="0" rtlCol="0" anchor="t"/>
          <a:lstStyle/>
          <a:p>
            <a:pPr indent="0" marL="0">
              <a:buNone/>
            </a:pPr>
            <a:r>
              <a:rPr lang="en-US" sz="1100" b="1" dirty="0">
                <a:solidFill>
                  <a:srgbClr val="1E9BE3"/>
                </a:solidFill>
                <a:latin typeface="Arial" pitchFamily="34" charset="0"/>
                <a:ea typeface="Arial" pitchFamily="34" charset="-122"/>
                <a:cs typeface="Arial" pitchFamily="34" charset="-120"/>
              </a:rPr>
              <a:t>View project  →</a:t>
            </a:r>
            <a:endParaRPr lang="en-US" sz="1100" dirty="0"/>
          </a:p>
        </p:txBody>
      </p:sp>
      <p:sp>
        <p:nvSpPr>
          <p:cNvPr id="28" name="Shape 25"/>
          <p:cNvSpPr/>
          <p:nvPr/>
        </p:nvSpPr>
        <p:spPr>
          <a:xfrm>
            <a:off x="4389120" y="1920240"/>
            <a:ext cx="3566160" cy="4572000"/>
          </a:xfrm>
          <a:prstGeom prst="roundRect">
            <a:avLst>
              <a:gd name="adj" fmla="val 2051"/>
            </a:avLst>
          </a:prstGeom>
          <a:solidFill>
            <a:srgbClr val="172231">
              <a:alpha val="45000"/>
            </a:srgbClr>
          </a:solidFill>
          <a:ln w="9525">
            <a:solidFill>
              <a:srgbClr val="2A3A4E"/>
            </a:solidFill>
            <a:prstDash val="dash"/>
          </a:ln>
        </p:spPr>
      </p:sp>
      <p:sp>
        <p:nvSpPr>
          <p:cNvPr id="29" name="Text 26"/>
          <p:cNvSpPr txBox="1"/>
          <p:nvPr/>
        </p:nvSpPr>
        <p:spPr>
          <a:xfrm>
            <a:off x="4617720" y="3931920"/>
            <a:ext cx="3108960" cy="320040"/>
          </a:xfrm>
          <a:prstGeom prst="rect">
            <a:avLst/>
          </a:prstGeom>
          <a:noFill/>
          <a:ln/>
        </p:spPr>
        <p:txBody>
          <a:bodyPr wrap="square" lIns="0" tIns="0" rIns="0" bIns="0" rtlCol="0" anchor="t"/>
          <a:lstStyle/>
          <a:p>
            <a:pPr indent="0" marL="0">
              <a:buNone/>
            </a:pPr>
            <a:r>
              <a:rPr lang="en-US" sz="1300" b="1" dirty="0">
                <a:solidFill>
                  <a:srgbClr val="5E6E80"/>
                </a:solidFill>
                <a:latin typeface="Arial" pitchFamily="34" charset="0"/>
                <a:ea typeface="Arial" pitchFamily="34" charset="-122"/>
                <a:cs typeface="Arial" pitchFamily="34" charset="-120"/>
              </a:rPr>
              <a:t>Automated Garden Watering System</a:t>
            </a:r>
            <a:endParaRPr lang="en-US" sz="1300" dirty="0"/>
          </a:p>
        </p:txBody>
      </p:sp>
      <p:sp>
        <p:nvSpPr>
          <p:cNvPr id="30" name="Text 27"/>
          <p:cNvSpPr txBox="1"/>
          <p:nvPr/>
        </p:nvSpPr>
        <p:spPr>
          <a:xfrm>
            <a:off x="4617720" y="4297680"/>
            <a:ext cx="3108960" cy="274320"/>
          </a:xfrm>
          <a:prstGeom prst="rect">
            <a:avLst/>
          </a:prstGeom>
          <a:noFill/>
          <a:ln/>
        </p:spPr>
        <p:txBody>
          <a:bodyPr wrap="square" lIns="0" tIns="0" rIns="0" bIns="0" rtlCol="0" anchor="t"/>
          <a:lstStyle/>
          <a:p>
            <a:pPr indent="0" marL="0">
              <a:buNone/>
            </a:pPr>
            <a:r>
              <a:rPr lang="en-US" sz="1000" dirty="0">
                <a:solidFill>
                  <a:srgbClr val="5E6E80"/>
                </a:solidFill>
                <a:latin typeface="Arial" pitchFamily="34" charset="0"/>
                <a:ea typeface="Arial" pitchFamily="34" charset="-122"/>
                <a:cs typeface="Arial" pitchFamily="34" charset="-120"/>
              </a:rPr>
              <a:t>(existing card)</a:t>
            </a:r>
            <a:endParaRPr lang="en-US" sz="1000" dirty="0"/>
          </a:p>
        </p:txBody>
      </p:sp>
      <p:sp>
        <p:nvSpPr>
          <p:cNvPr id="31" name="Shape 28"/>
          <p:cNvSpPr/>
          <p:nvPr/>
        </p:nvSpPr>
        <p:spPr>
          <a:xfrm>
            <a:off x="8229600" y="1920240"/>
            <a:ext cx="3566160" cy="4572000"/>
          </a:xfrm>
          <a:prstGeom prst="roundRect">
            <a:avLst>
              <a:gd name="adj" fmla="val 2051"/>
            </a:avLst>
          </a:prstGeom>
          <a:solidFill>
            <a:srgbClr val="172231">
              <a:alpha val="45000"/>
            </a:srgbClr>
          </a:solidFill>
          <a:ln w="9525">
            <a:solidFill>
              <a:srgbClr val="2A3A4E"/>
            </a:solidFill>
            <a:prstDash val="dash"/>
          </a:ln>
        </p:spPr>
      </p:sp>
      <p:sp>
        <p:nvSpPr>
          <p:cNvPr id="32" name="Text 29"/>
          <p:cNvSpPr txBox="1"/>
          <p:nvPr/>
        </p:nvSpPr>
        <p:spPr>
          <a:xfrm>
            <a:off x="8458200" y="3931920"/>
            <a:ext cx="3108960" cy="320040"/>
          </a:xfrm>
          <a:prstGeom prst="rect">
            <a:avLst/>
          </a:prstGeom>
          <a:noFill/>
          <a:ln/>
        </p:spPr>
        <p:txBody>
          <a:bodyPr wrap="square" lIns="0" tIns="0" rIns="0" bIns="0" rtlCol="0" anchor="t"/>
          <a:lstStyle/>
          <a:p>
            <a:pPr indent="0" marL="0">
              <a:buNone/>
            </a:pPr>
            <a:r>
              <a:rPr lang="en-US" sz="1300" b="1" dirty="0">
                <a:solidFill>
                  <a:srgbClr val="5E6E80"/>
                </a:solidFill>
                <a:latin typeface="Arial" pitchFamily="34" charset="0"/>
                <a:ea typeface="Arial" pitchFamily="34" charset="-122"/>
                <a:cs typeface="Arial" pitchFamily="34" charset="-120"/>
              </a:rPr>
              <a:t>Hobby Rocketry Components</a:t>
            </a:r>
            <a:endParaRPr lang="en-US" sz="1300" dirty="0"/>
          </a:p>
        </p:txBody>
      </p:sp>
      <p:sp>
        <p:nvSpPr>
          <p:cNvPr id="33" name="Text 30"/>
          <p:cNvSpPr txBox="1"/>
          <p:nvPr/>
        </p:nvSpPr>
        <p:spPr>
          <a:xfrm>
            <a:off x="8458200" y="4297680"/>
            <a:ext cx="3108960" cy="274320"/>
          </a:xfrm>
          <a:prstGeom prst="rect">
            <a:avLst/>
          </a:prstGeom>
          <a:noFill/>
          <a:ln/>
        </p:spPr>
        <p:txBody>
          <a:bodyPr wrap="square" lIns="0" tIns="0" rIns="0" bIns="0" rtlCol="0" anchor="t"/>
          <a:lstStyle/>
          <a:p>
            <a:pPr indent="0" marL="0">
              <a:buNone/>
            </a:pPr>
            <a:r>
              <a:rPr lang="en-US" sz="1000" dirty="0">
                <a:solidFill>
                  <a:srgbClr val="5E6E80"/>
                </a:solidFill>
                <a:latin typeface="Arial" pitchFamily="34" charset="0"/>
                <a:ea typeface="Arial" pitchFamily="34" charset="-122"/>
                <a:cs typeface="Arial" pitchFamily="34" charset="-120"/>
              </a:rPr>
              <a:t>(existing card)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8915400" y="1371600"/>
            <a:ext cx="2834640" cy="4645152"/>
          </a:xfrm>
          <a:prstGeom prst="roundRect">
            <a:avLst>
              <a:gd name="adj" fmla="val 2581"/>
            </a:avLst>
          </a:prstGeom>
          <a:solidFill>
            <a:srgbClr val="FFFFFF"/>
          </a:solidFill>
          <a:ln w="9525">
            <a:solidFill>
              <a:srgbClr val="2A3A4E"/>
            </a:solidFill>
            <a:prstDash val="solid"/>
          </a:ln>
        </p:spPr>
      </p:sp>
      <p:pic>
        <p:nvPicPr>
          <p:cNvPr id="8" name="Image 0" descr="tshirt-stacker/images/hero-system-iso.png">    </p:cNvPr>
          <p:cNvPicPr>
            <a:picLocks noChangeAspect="1"/>
          </p:cNvPicPr>
          <p:nvPr/>
        </p:nvPicPr>
        <p:blipFill>
          <a:blip r:embed="rId1"/>
          <a:stretch>
            <a:fillRect/>
          </a:stretch>
        </p:blipFill>
        <p:spPr>
          <a:xfrm>
            <a:off x="9025128" y="2626104"/>
            <a:ext cx="2615184" cy="2136145"/>
          </a:xfrm>
          <a:prstGeom prst="rect">
            <a:avLst/>
          </a:prstGeom>
        </p:spPr>
      </p:pic>
      <p:sp>
        <p:nvSpPr>
          <p:cNvPr id="9" name="Text 6"/>
          <p:cNvSpPr txBox="1"/>
          <p:nvPr/>
        </p:nvSpPr>
        <p:spPr>
          <a:xfrm>
            <a:off x="8915400" y="6071616"/>
            <a:ext cx="283464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Hero background image (dimmed on the site)</a:t>
            </a:r>
            <a:endParaRPr lang="en-US" sz="900" dirty="0"/>
          </a:p>
        </p:txBody>
      </p:sp>
      <p:sp>
        <p:nvSpPr>
          <p:cNvPr id="10" name="Text 7"/>
          <p:cNvSpPr txBox="1"/>
          <p:nvPr/>
        </p:nvSpPr>
        <p:spPr>
          <a:xfrm>
            <a:off x="1097280" y="960120"/>
            <a:ext cx="2743200" cy="274320"/>
          </a:xfrm>
          <a:prstGeom prst="rect">
            <a:avLst/>
          </a:prstGeom>
          <a:noFill/>
          <a:ln/>
        </p:spPr>
        <p:txBody>
          <a:bodyPr wrap="square" lIns="0" tIns="0" rIns="0" bIns="0" rtlCol="0" anchor="t"/>
          <a:lstStyle/>
          <a:p>
            <a:pPr indent="0" marL="0">
              <a:buNone/>
            </a:pPr>
            <a:r>
              <a:rPr lang="en-US" sz="1200" dirty="0">
                <a:solidFill>
                  <a:srgbClr val="93A1B0"/>
                </a:solidFill>
                <a:latin typeface="Arial" pitchFamily="34" charset="0"/>
                <a:ea typeface="Arial" pitchFamily="34" charset="-122"/>
                <a:cs typeface="Arial" pitchFamily="34" charset="-120"/>
              </a:rPr>
              <a:t>←  Back to Projects</a:t>
            </a:r>
            <a:endParaRPr lang="en-US" sz="1200" dirty="0"/>
          </a:p>
        </p:txBody>
      </p:sp>
      <p:sp>
        <p:nvSpPr>
          <p:cNvPr id="11" name="Text 8"/>
          <p:cNvSpPr txBox="1"/>
          <p:nvPr/>
        </p:nvSpPr>
        <p:spPr>
          <a:xfrm>
            <a:off x="1097280" y="1371600"/>
            <a:ext cx="8229600" cy="274320"/>
          </a:xfrm>
          <a:prstGeom prst="rect">
            <a:avLst/>
          </a:prstGeom>
          <a:noFill/>
          <a:ln/>
        </p:spPr>
        <p:txBody>
          <a:bodyPr wrap="square" lIns="0" tIns="0" rIns="0" bIns="0" rtlCol="0" anchor="t"/>
          <a:lstStyle/>
          <a:p>
            <a:pPr indent="0" marL="0">
              <a:buNone/>
            </a:pPr>
            <a:r>
              <a:rPr lang="en-US" sz="1200" dirty="0">
                <a:solidFill>
                  <a:srgbClr val="E8EDF2"/>
                </a:solidFill>
                <a:latin typeface="Arial" pitchFamily="34" charset="0"/>
                <a:ea typeface="Arial" pitchFamily="34" charset="-122"/>
                <a:cs typeface="Arial" pitchFamily="34" charset="-120"/>
              </a:rPr>
              <a:t>Team Project  •  Senior Capstone  •  </a:t>
            </a:r>
            <a:pPr indent="0" marL="0">
              <a:buNone/>
            </a:pPr>
            <a:r>
              <a:rPr lang="en-US" sz="1200" dirty="0">
                <a:solidFill>
                  <a:srgbClr val="1E9BE3"/>
                </a:solidFill>
                <a:latin typeface="Courier New" pitchFamily="34" charset="0"/>
                <a:ea typeface="Courier New" pitchFamily="34" charset="-122"/>
                <a:cs typeface="Courier New" pitchFamily="34" charset="-120"/>
              </a:rPr>
              <a:t>January 2026 - December 2026</a:t>
            </a:r>
            <a:endParaRPr lang="en-US" sz="1200" dirty="0"/>
          </a:p>
        </p:txBody>
      </p:sp>
      <p:sp>
        <p:nvSpPr>
          <p:cNvPr id="12" name="Text 9"/>
          <p:cNvSpPr txBox="1"/>
          <p:nvPr/>
        </p:nvSpPr>
        <p:spPr>
          <a:xfrm>
            <a:off x="1097280" y="1737360"/>
            <a:ext cx="7680960" cy="731520"/>
          </a:xfrm>
          <a:prstGeom prst="rect">
            <a:avLst/>
          </a:prstGeom>
          <a:noFill/>
          <a:ln/>
        </p:spPr>
        <p:txBody>
          <a:bodyPr wrap="square" lIns="0" tIns="0" rIns="0" bIns="0" rtlCol="0" anchor="t"/>
          <a:lstStyle/>
          <a:p>
            <a:pPr indent="0" marL="0">
              <a:buNone/>
            </a:pPr>
            <a:r>
              <a:rPr lang="en-US" sz="4000" b="1" dirty="0">
                <a:solidFill>
                  <a:srgbClr val="E8EDF2"/>
                </a:solidFill>
                <a:latin typeface="Arial" pitchFamily="34" charset="0"/>
                <a:ea typeface="Arial" pitchFamily="34" charset="-122"/>
                <a:cs typeface="Arial" pitchFamily="34" charset="-120"/>
              </a:rPr>
              <a:t>Automated T-Shirt Stacker</a:t>
            </a:r>
            <a:endParaRPr lang="en-US" sz="4000" dirty="0"/>
          </a:p>
        </p:txBody>
      </p:sp>
      <p:sp>
        <p:nvSpPr>
          <p:cNvPr id="13" name="Text 10"/>
          <p:cNvSpPr txBox="1"/>
          <p:nvPr/>
        </p:nvSpPr>
        <p:spPr>
          <a:xfrm>
            <a:off x="1097280" y="2560320"/>
            <a:ext cx="7498080" cy="640080"/>
          </a:xfrm>
          <a:prstGeom prst="rect">
            <a:avLst/>
          </a:prstGeom>
          <a:noFill/>
          <a:ln/>
        </p:spPr>
        <p:txBody>
          <a:bodyPr wrap="square" lIns="0" tIns="0" rIns="0" bIns="0" rtlCol="0" anchor="t"/>
          <a:lstStyle/>
          <a:p>
            <a:pPr indent="0" marL="0">
              <a:lnSpc>
                <a:spcPct val="115000"/>
              </a:lnSpc>
              <a:buNone/>
            </a:pPr>
            <a:r>
              <a:rPr lang="en-US" sz="1500" dirty="0">
                <a:solidFill>
                  <a:srgbClr val="C9D3DD"/>
                </a:solidFill>
                <a:latin typeface="Arial" pitchFamily="34" charset="0"/>
                <a:ea typeface="Arial" pitchFamily="34" charset="-122"/>
                <a:cs typeface="Arial" pitchFamily="34" charset="-120"/>
              </a:rPr>
              <a:t>Senior capstone for a screen-printing shop. A shuttle conveyor catches garments off the dryer and lays them onto a self-lowering stack. Currently in fabrication.</a:t>
            </a:r>
            <a:endParaRPr lang="en-US" sz="1500" dirty="0"/>
          </a:p>
        </p:txBody>
      </p:sp>
      <p:sp>
        <p:nvSpPr>
          <p:cNvPr id="14" name="Shape 11"/>
          <p:cNvSpPr/>
          <p:nvPr/>
        </p:nvSpPr>
        <p:spPr>
          <a:xfrm>
            <a:off x="1097280" y="3337560"/>
            <a:ext cx="1024128" cy="274320"/>
          </a:xfrm>
          <a:prstGeom prst="roundRect">
            <a:avLst>
              <a:gd name="adj" fmla="val 13333"/>
            </a:avLst>
          </a:prstGeom>
          <a:solidFill>
            <a:srgbClr val="0F1620"/>
          </a:solidFill>
          <a:ln w="12700">
            <a:solidFill>
              <a:srgbClr val="22C3E6"/>
            </a:solidFill>
            <a:prstDash val="solid"/>
          </a:ln>
        </p:spPr>
      </p:sp>
      <p:sp>
        <p:nvSpPr>
          <p:cNvPr id="15" name="Text 12"/>
          <p:cNvSpPr txBox="1"/>
          <p:nvPr/>
        </p:nvSpPr>
        <p:spPr>
          <a:xfrm>
            <a:off x="1097280" y="3337560"/>
            <a:ext cx="1024128" cy="274320"/>
          </a:xfrm>
          <a:prstGeom prst="rect">
            <a:avLst/>
          </a:prstGeom>
          <a:noFill/>
          <a:ln/>
        </p:spPr>
        <p:txBody>
          <a:bodyPr wrap="square" lIns="0" tIns="0" rIns="0" bIns="0" rtlCol="0" anchor="ctr"/>
          <a:lstStyle/>
          <a:p>
            <a:pPr algn="ctr" indent="0" marL="0">
              <a:buNone/>
            </a:pPr>
            <a:r>
              <a:rPr lang="en-US" sz="1000" b="1" dirty="0">
                <a:solidFill>
                  <a:srgbClr val="22C3E6"/>
                </a:solidFill>
                <a:latin typeface="Arial" pitchFamily="34" charset="0"/>
                <a:ea typeface="Arial" pitchFamily="34" charset="-122"/>
                <a:cs typeface="Arial" pitchFamily="34" charset="-120"/>
              </a:rPr>
              <a:t>Mechanical</a:t>
            </a:r>
            <a:endParaRPr lang="en-US" sz="1000" dirty="0"/>
          </a:p>
        </p:txBody>
      </p:sp>
      <p:sp>
        <p:nvSpPr>
          <p:cNvPr id="16" name="Shape 13"/>
          <p:cNvSpPr/>
          <p:nvPr/>
        </p:nvSpPr>
        <p:spPr>
          <a:xfrm>
            <a:off x="2231136" y="3337560"/>
            <a:ext cx="1024128" cy="274320"/>
          </a:xfrm>
          <a:prstGeom prst="roundRect">
            <a:avLst>
              <a:gd name="adj" fmla="val 13333"/>
            </a:avLst>
          </a:prstGeom>
          <a:solidFill>
            <a:srgbClr val="0F1620"/>
          </a:solidFill>
          <a:ln w="12700">
            <a:solidFill>
              <a:srgbClr val="F2A33A"/>
            </a:solidFill>
            <a:prstDash val="solid"/>
          </a:ln>
        </p:spPr>
      </p:sp>
      <p:sp>
        <p:nvSpPr>
          <p:cNvPr id="17" name="Text 14"/>
          <p:cNvSpPr txBox="1"/>
          <p:nvPr/>
        </p:nvSpPr>
        <p:spPr>
          <a:xfrm>
            <a:off x="2231136" y="3337560"/>
            <a:ext cx="1024128" cy="274320"/>
          </a:xfrm>
          <a:prstGeom prst="rect">
            <a:avLst/>
          </a:prstGeom>
          <a:noFill/>
          <a:ln/>
        </p:spPr>
        <p:txBody>
          <a:bodyPr wrap="square" lIns="0" tIns="0" rIns="0" bIns="0" rtlCol="0" anchor="ctr"/>
          <a:lstStyle/>
          <a:p>
            <a:pPr algn="ctr" indent="0" marL="0">
              <a:buNone/>
            </a:pPr>
            <a:r>
              <a:rPr lang="en-US" sz="1000" b="1" dirty="0">
                <a:solidFill>
                  <a:srgbClr val="F2A33A"/>
                </a:solidFill>
                <a:latin typeface="Arial" pitchFamily="34" charset="0"/>
                <a:ea typeface="Arial" pitchFamily="34" charset="-122"/>
                <a:cs typeface="Arial" pitchFamily="34" charset="-120"/>
              </a:rPr>
              <a:t>Electrical</a:t>
            </a:r>
            <a:endParaRPr lang="en-US" sz="1000" dirty="0"/>
          </a:p>
        </p:txBody>
      </p:sp>
      <p:sp>
        <p:nvSpPr>
          <p:cNvPr id="18" name="Shape 15"/>
          <p:cNvSpPr/>
          <p:nvPr/>
        </p:nvSpPr>
        <p:spPr>
          <a:xfrm>
            <a:off x="3364992" y="3337560"/>
            <a:ext cx="874166" cy="274320"/>
          </a:xfrm>
          <a:prstGeom prst="roundRect">
            <a:avLst>
              <a:gd name="adj" fmla="val 13333"/>
            </a:avLst>
          </a:prstGeom>
          <a:solidFill>
            <a:srgbClr val="0F1620"/>
          </a:solidFill>
          <a:ln w="12700">
            <a:solidFill>
              <a:srgbClr val="2BC48A"/>
            </a:solidFill>
            <a:prstDash val="solid"/>
          </a:ln>
        </p:spPr>
      </p:sp>
      <p:sp>
        <p:nvSpPr>
          <p:cNvPr id="19" name="Text 16"/>
          <p:cNvSpPr txBox="1"/>
          <p:nvPr/>
        </p:nvSpPr>
        <p:spPr>
          <a:xfrm>
            <a:off x="3364992" y="3337560"/>
            <a:ext cx="874166" cy="274320"/>
          </a:xfrm>
          <a:prstGeom prst="rect">
            <a:avLst/>
          </a:prstGeom>
          <a:noFill/>
          <a:ln/>
        </p:spPr>
        <p:txBody>
          <a:bodyPr wrap="square" lIns="0" tIns="0" rIns="0" bIns="0" rtlCol="0" anchor="ctr"/>
          <a:lstStyle/>
          <a:p>
            <a:pPr algn="ctr" indent="0" marL="0">
              <a:buNone/>
            </a:pPr>
            <a:r>
              <a:rPr lang="en-US" sz="1000" b="1" dirty="0">
                <a:solidFill>
                  <a:srgbClr val="2BC48A"/>
                </a:solidFill>
                <a:latin typeface="Arial" pitchFamily="34" charset="0"/>
                <a:ea typeface="Arial" pitchFamily="34" charset="-122"/>
                <a:cs typeface="Arial" pitchFamily="34" charset="-120"/>
              </a:rPr>
              <a:t>Controls</a:t>
            </a:r>
            <a:endParaRPr lang="en-US" sz="1000" dirty="0"/>
          </a:p>
        </p:txBody>
      </p:sp>
      <p:sp>
        <p:nvSpPr>
          <p:cNvPr id="20" name="Shape 17"/>
          <p:cNvSpPr/>
          <p:nvPr/>
        </p:nvSpPr>
        <p:spPr>
          <a:xfrm>
            <a:off x="4348886" y="3337560"/>
            <a:ext cx="874166" cy="274320"/>
          </a:xfrm>
          <a:prstGeom prst="roundRect">
            <a:avLst>
              <a:gd name="adj" fmla="val 13333"/>
            </a:avLst>
          </a:prstGeom>
          <a:solidFill>
            <a:srgbClr val="0F1620"/>
          </a:solidFill>
          <a:ln w="12700">
            <a:solidFill>
              <a:srgbClr val="9B7BF0"/>
            </a:solidFill>
            <a:prstDash val="solid"/>
          </a:ln>
        </p:spPr>
      </p:sp>
      <p:sp>
        <p:nvSpPr>
          <p:cNvPr id="21" name="Text 18"/>
          <p:cNvSpPr txBox="1"/>
          <p:nvPr/>
        </p:nvSpPr>
        <p:spPr>
          <a:xfrm>
            <a:off x="4348886" y="3337560"/>
            <a:ext cx="874166" cy="274320"/>
          </a:xfrm>
          <a:prstGeom prst="rect">
            <a:avLst/>
          </a:prstGeom>
          <a:noFill/>
          <a:ln/>
        </p:spPr>
        <p:txBody>
          <a:bodyPr wrap="square" lIns="0" tIns="0" rIns="0" bIns="0" rtlCol="0" anchor="ctr"/>
          <a:lstStyle/>
          <a:p>
            <a:pPr algn="ctr" indent="0" marL="0">
              <a:buNone/>
            </a:pPr>
            <a:r>
              <a:rPr lang="en-US" sz="1000" b="1" dirty="0">
                <a:solidFill>
                  <a:srgbClr val="9B7BF0"/>
                </a:solidFill>
                <a:latin typeface="Arial" pitchFamily="34" charset="0"/>
                <a:ea typeface="Arial" pitchFamily="34" charset="-122"/>
                <a:cs typeface="Arial" pitchFamily="34" charset="-120"/>
              </a:rPr>
              <a:t>Software</a:t>
            </a:r>
            <a:endParaRPr lang="en-US" sz="1000" dirty="0"/>
          </a:p>
        </p:txBody>
      </p:sp>
      <p:sp>
        <p:nvSpPr>
          <p:cNvPr id="22" name="Shape 19"/>
          <p:cNvSpPr/>
          <p:nvPr/>
        </p:nvSpPr>
        <p:spPr>
          <a:xfrm>
            <a:off x="5332781" y="3337560"/>
            <a:ext cx="1249070" cy="274320"/>
          </a:xfrm>
          <a:prstGeom prst="roundRect">
            <a:avLst>
              <a:gd name="adj" fmla="val 13333"/>
            </a:avLst>
          </a:prstGeom>
          <a:solidFill>
            <a:srgbClr val="0F1620"/>
          </a:solidFill>
          <a:ln w="12700">
            <a:solidFill>
              <a:srgbClr val="F0566E"/>
            </a:solidFill>
            <a:prstDash val="solid"/>
          </a:ln>
        </p:spPr>
      </p:sp>
      <p:sp>
        <p:nvSpPr>
          <p:cNvPr id="23" name="Text 20"/>
          <p:cNvSpPr txBox="1"/>
          <p:nvPr/>
        </p:nvSpPr>
        <p:spPr>
          <a:xfrm>
            <a:off x="5332781" y="3337560"/>
            <a:ext cx="1249070" cy="274320"/>
          </a:xfrm>
          <a:prstGeom prst="rect">
            <a:avLst/>
          </a:prstGeom>
          <a:noFill/>
          <a:ln/>
        </p:spPr>
        <p:txBody>
          <a:bodyPr wrap="square" lIns="0" tIns="0" rIns="0" bIns="0" rtlCol="0" anchor="ctr"/>
          <a:lstStyle/>
          <a:p>
            <a:pPr algn="ctr" indent="0" marL="0">
              <a:buNone/>
            </a:pPr>
            <a:r>
              <a:rPr lang="en-US" sz="1000" b="1" dirty="0">
                <a:solidFill>
                  <a:srgbClr val="F0566E"/>
                </a:solidFill>
                <a:latin typeface="Arial" pitchFamily="34" charset="0"/>
                <a:ea typeface="Arial" pitchFamily="34" charset="-122"/>
                <a:cs typeface="Arial" pitchFamily="34" charset="-120"/>
              </a:rPr>
              <a:t>Manufacturing</a:t>
            </a:r>
            <a:endParaRPr lang="en-US" sz="1000" dirty="0"/>
          </a:p>
        </p:txBody>
      </p:sp>
      <p:sp>
        <p:nvSpPr>
          <p:cNvPr id="24" name="Shape 21"/>
          <p:cNvSpPr/>
          <p:nvPr/>
        </p:nvSpPr>
        <p:spPr>
          <a:xfrm>
            <a:off x="1097280" y="3931920"/>
            <a:ext cx="7498080" cy="2377440"/>
          </a:xfrm>
          <a:prstGeom prst="roundRect">
            <a:avLst>
              <a:gd name="adj" fmla="val 3077"/>
            </a:avLst>
          </a:prstGeom>
          <a:solidFill>
            <a:srgbClr val="172231"/>
          </a:solidFill>
          <a:ln w="9525">
            <a:solidFill>
              <a:srgbClr val="2A3A4E"/>
            </a:solidFill>
            <a:prstDash val="solid"/>
          </a:ln>
        </p:spPr>
      </p:sp>
      <p:sp>
        <p:nvSpPr>
          <p:cNvPr id="25" name="Text 22"/>
          <p:cNvSpPr txBox="1"/>
          <p:nvPr/>
        </p:nvSpPr>
        <p:spPr>
          <a:xfrm>
            <a:off x="1371600" y="4114800"/>
            <a:ext cx="548640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Project Overview</a:t>
            </a:r>
            <a:endParaRPr lang="en-US" sz="1300" dirty="0"/>
          </a:p>
        </p:txBody>
      </p:sp>
      <p:sp>
        <p:nvSpPr>
          <p:cNvPr id="26" name="Text 23"/>
          <p:cNvSpPr txBox="1"/>
          <p:nvPr/>
        </p:nvSpPr>
        <p:spPr>
          <a:xfrm>
            <a:off x="1371600" y="4480560"/>
            <a:ext cx="7040880" cy="17373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E8EDF2"/>
                </a:solidFill>
                <a:latin typeface="Arial" pitchFamily="34" charset="0"/>
                <a:ea typeface="Arial" pitchFamily="34" charset="-122"/>
                <a:cs typeface="Arial" pitchFamily="34" charset="-120"/>
              </a:rPr>
              <a:t>Built for Headwaters Studio, a screen-printing shop in Red Lodge, MT</a:t>
            </a:r>
            <a:endParaRPr lang="en-US" sz="1200" dirty="0"/>
          </a:p>
          <a:p>
            <a:pPr marL="152400" indent="-152400">
              <a:spcAft>
                <a:spcPts val="600"/>
              </a:spcAft>
              <a:buSzPct val="100000"/>
              <a:buChar char="•"/>
            </a:pPr>
            <a:r>
              <a:rPr lang="en-US" sz="1200" dirty="0">
                <a:solidFill>
                  <a:srgbClr val="E8EDF2"/>
                </a:solidFill>
                <a:latin typeface="Arial" pitchFamily="34" charset="0"/>
                <a:ea typeface="Arial" pitchFamily="34" charset="-122"/>
                <a:cs typeface="Arial" pitchFamily="34" charset="-120"/>
              </a:rPr>
              <a:t>Catches each garment leaving the dryer and builds a neat, stable stack with minimal operator involvement</a:t>
            </a:r>
            <a:endParaRPr lang="en-US" sz="1200" dirty="0"/>
          </a:p>
          <a:p>
            <a:pPr marL="152400" indent="-152400">
              <a:spcAft>
                <a:spcPts val="600"/>
              </a:spcAft>
              <a:buSzPct val="100000"/>
              <a:buChar char="•"/>
            </a:pPr>
            <a:r>
              <a:rPr lang="en-US" sz="1200" dirty="0">
                <a:solidFill>
                  <a:srgbClr val="E8EDF2"/>
                </a:solidFill>
                <a:latin typeface="Arial" pitchFamily="34" charset="0"/>
                <a:ea typeface="Arial" pitchFamily="34" charset="-122"/>
                <a:cs typeface="Arial" pitchFamily="34" charset="-120"/>
              </a:rPr>
              <a:t>Targets up to 200 garments/hour, youth S to adult 2XL, shirts and sweatshirts</a:t>
            </a:r>
            <a:endParaRPr lang="en-US" sz="1200" dirty="0"/>
          </a:p>
          <a:p>
            <a:pPr marL="152400" indent="-152400">
              <a:spcAft>
                <a:spcPts val="600"/>
              </a:spcAft>
              <a:buSzPct val="100000"/>
              <a:buChar char="•"/>
            </a:pPr>
            <a:r>
              <a:rPr lang="en-US" sz="1200" dirty="0">
                <a:solidFill>
                  <a:srgbClr val="E8EDF2"/>
                </a:solidFill>
                <a:latin typeface="Arial" pitchFamily="34" charset="0"/>
                <a:ea typeface="Arial" pitchFamily="34" charset="-122"/>
                <a:cs typeface="Arial" pitchFamily="34" charset="-120"/>
              </a:rPr>
              <a:t>Team of four: Kordian Cebulla, Audrey Ingraham, Katelyn Rutten, Nathanael Wilson. Advisor: Adam Michalson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E9BE3"/>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1</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System Overview &amp; Design Intent</a:t>
            </a:r>
            <a:endParaRPr lang="en-US" sz="2600" dirty="0"/>
          </a:p>
        </p:txBody>
      </p:sp>
      <p:sp>
        <p:nvSpPr>
          <p:cNvPr id="43" name="Text 41"/>
          <p:cNvSpPr txBox="1"/>
          <p:nvPr/>
        </p:nvSpPr>
        <p:spPr>
          <a:xfrm>
            <a:off x="2194560" y="1874520"/>
            <a:ext cx="53949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The Problem</a:t>
            </a:r>
            <a:endParaRPr lang="en-US" sz="1300" dirty="0"/>
          </a:p>
        </p:txBody>
      </p:sp>
      <p:sp>
        <p:nvSpPr>
          <p:cNvPr id="44" name="Text 42"/>
          <p:cNvSpPr txBox="1"/>
          <p:nvPr/>
        </p:nvSpPr>
        <p:spPr>
          <a:xfrm>
            <a:off x="2194560" y="2194560"/>
            <a:ext cx="5394960" cy="105156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Freshly printed and dried garments drop off the dryer conveyor into a basket. An operator has to keep pulling them out and stacking them by hand, which caps throughput, produces inconsistent stacks, and ties up a person at the dryer exit.</a:t>
            </a:r>
            <a:endParaRPr lang="en-US" sz="1100" dirty="0"/>
          </a:p>
        </p:txBody>
      </p:sp>
      <p:sp>
        <p:nvSpPr>
          <p:cNvPr id="45" name="Text 43"/>
          <p:cNvSpPr txBox="1"/>
          <p:nvPr/>
        </p:nvSpPr>
        <p:spPr>
          <a:xfrm>
            <a:off x="2194560" y="3291840"/>
            <a:ext cx="53949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Core Idea / Solution</a:t>
            </a:r>
            <a:endParaRPr lang="en-US" sz="1300" dirty="0"/>
          </a:p>
        </p:txBody>
      </p:sp>
      <p:sp>
        <p:nvSpPr>
          <p:cNvPr id="46" name="Text 44"/>
          <p:cNvSpPr txBox="1"/>
          <p:nvPr/>
        </p:nvSpPr>
        <p:spPr>
          <a:xfrm>
            <a:off x="2194560" y="3611880"/>
            <a:ext cx="5394960" cy="105156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A shuttle conveyor slides under the dryer exit to catch each garment, carries it over the stack, then pulls back while its belt runs forward, laying the garment flat with no relative motion instead of dropping it. The platform steps down as the stack grows, and a light and alarm call the operator when it's full.</a:t>
            </a:r>
            <a:endParaRPr lang="en-US" sz="1100" dirty="0"/>
          </a:p>
        </p:txBody>
      </p:sp>
      <p:sp>
        <p:nvSpPr>
          <p:cNvPr id="47" name="Text 45"/>
          <p:cNvSpPr txBox="1"/>
          <p:nvPr/>
        </p:nvSpPr>
        <p:spPr>
          <a:xfrm>
            <a:off x="2194560" y="4892040"/>
            <a:ext cx="53949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Outcome (so far)</a:t>
            </a:r>
            <a:endParaRPr lang="en-US" sz="1300" dirty="0"/>
          </a:p>
        </p:txBody>
      </p:sp>
      <p:sp>
        <p:nvSpPr>
          <p:cNvPr id="48" name="Text 46"/>
          <p:cNvSpPr txBox="1"/>
          <p:nvPr/>
        </p:nvSpPr>
        <p:spPr>
          <a:xfrm>
            <a:off x="2194560" y="5212080"/>
            <a:ext cx="5394960" cy="105156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Passed its Critical Design Review in spring 2026 and is now in fabrication. Prototype rollout in November 2026, then testing against requirements before sponsor handoff at the December Design Fair.</a:t>
            </a:r>
            <a:endParaRPr lang="en-US" sz="1100" dirty="0"/>
          </a:p>
        </p:txBody>
      </p:sp>
      <p:sp>
        <p:nvSpPr>
          <p:cNvPr id="49" name="Shape 47"/>
          <p:cNvSpPr/>
          <p:nvPr/>
        </p:nvSpPr>
        <p:spPr>
          <a:xfrm>
            <a:off x="7955280" y="1874520"/>
            <a:ext cx="3794760" cy="4187952"/>
          </a:xfrm>
          <a:prstGeom prst="roundRect">
            <a:avLst>
              <a:gd name="adj" fmla="val 1928"/>
            </a:avLst>
          </a:prstGeom>
          <a:solidFill>
            <a:srgbClr val="FFFFFF"/>
          </a:solidFill>
          <a:ln w="9525">
            <a:solidFill>
              <a:srgbClr val="2A3A4E"/>
            </a:solidFill>
            <a:prstDash val="solid"/>
          </a:ln>
        </p:spPr>
      </p:sp>
      <p:pic>
        <p:nvPicPr>
          <p:cNvPr id="50" name="Image 0" descr="tshirt-stacker/images/system-iso-rear.png">    </p:cNvPr>
          <p:cNvPicPr>
            <a:picLocks noChangeAspect="1"/>
          </p:cNvPicPr>
          <p:nvPr/>
        </p:nvPicPr>
        <p:blipFill>
          <a:blip r:embed="rId1"/>
          <a:stretch>
            <a:fillRect/>
          </a:stretch>
        </p:blipFill>
        <p:spPr>
          <a:xfrm>
            <a:off x="8234190" y="1984248"/>
            <a:ext cx="3236940" cy="3968496"/>
          </a:xfrm>
          <a:prstGeom prst="rect">
            <a:avLst/>
          </a:prstGeom>
        </p:spPr>
      </p:pic>
      <p:sp>
        <p:nvSpPr>
          <p:cNvPr id="51" name="Text 48"/>
          <p:cNvSpPr txBox="1"/>
          <p:nvPr/>
        </p:nvSpPr>
        <p:spPr>
          <a:xfrm>
            <a:off x="7955280" y="6117336"/>
            <a:ext cx="379476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system-iso-rear.png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E9BE3"/>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2</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Requirements &amp; Constraints</a:t>
            </a:r>
            <a:endParaRPr lang="en-US" sz="2600" dirty="0"/>
          </a:p>
        </p:txBody>
      </p:sp>
      <p:sp>
        <p:nvSpPr>
          <p:cNvPr id="43" name="Shape 41"/>
          <p:cNvSpPr/>
          <p:nvPr/>
        </p:nvSpPr>
        <p:spPr>
          <a:xfrm>
            <a:off x="2194560" y="1828800"/>
            <a:ext cx="2183130" cy="1234440"/>
          </a:xfrm>
          <a:prstGeom prst="roundRect">
            <a:avLst>
              <a:gd name="adj" fmla="val 5926"/>
            </a:avLst>
          </a:prstGeom>
          <a:solidFill>
            <a:srgbClr val="172231"/>
          </a:solidFill>
          <a:ln w="9525">
            <a:solidFill>
              <a:srgbClr val="2A3A4E"/>
            </a:solidFill>
            <a:prstDash val="solid"/>
          </a:ln>
        </p:spPr>
      </p:sp>
      <p:sp>
        <p:nvSpPr>
          <p:cNvPr id="44" name="Text 42"/>
          <p:cNvSpPr txBox="1"/>
          <p:nvPr/>
        </p:nvSpPr>
        <p:spPr>
          <a:xfrm>
            <a:off x="2423160" y="1938528"/>
            <a:ext cx="1725930" cy="594360"/>
          </a:xfrm>
          <a:prstGeom prst="rect">
            <a:avLst/>
          </a:prstGeom>
          <a:noFill/>
          <a:ln/>
        </p:spPr>
        <p:txBody>
          <a:bodyPr wrap="square" lIns="0" tIns="0" rIns="0" bIns="0" rtlCol="0" anchor="t"/>
          <a:lstStyle/>
          <a:p>
            <a:pPr indent="0" marL="0">
              <a:buNone/>
            </a:pPr>
            <a:r>
              <a:rPr lang="en-US" sz="3200" b="1" dirty="0">
                <a:solidFill>
                  <a:srgbClr val="1E9BE3"/>
                </a:solidFill>
                <a:latin typeface="Arial" pitchFamily="34" charset="0"/>
                <a:ea typeface="Arial" pitchFamily="34" charset="-122"/>
                <a:cs typeface="Arial" pitchFamily="34" charset="-120"/>
              </a:rPr>
              <a:t>200</a:t>
            </a:r>
            <a:endParaRPr lang="en-US" sz="3200" dirty="0"/>
          </a:p>
        </p:txBody>
      </p:sp>
      <p:sp>
        <p:nvSpPr>
          <p:cNvPr id="45" name="Text 43"/>
          <p:cNvSpPr txBox="1"/>
          <p:nvPr/>
        </p:nvSpPr>
        <p:spPr>
          <a:xfrm>
            <a:off x="2423160" y="2560320"/>
            <a:ext cx="1725930" cy="411480"/>
          </a:xfrm>
          <a:prstGeom prst="rect">
            <a:avLst/>
          </a:prstGeom>
          <a:noFill/>
          <a:ln/>
        </p:spPr>
        <p:txBody>
          <a:bodyPr wrap="square" lIns="0" tIns="0" rIns="0" bIns="0" rtlCol="0" anchor="t"/>
          <a:lstStyle/>
          <a:p>
            <a:pPr indent="0" marL="0">
              <a:buNone/>
            </a:pPr>
            <a:r>
              <a:rPr lang="en-US" sz="1050" dirty="0">
                <a:solidFill>
                  <a:srgbClr val="93A1B0"/>
                </a:solidFill>
                <a:latin typeface="Arial" pitchFamily="34" charset="0"/>
                <a:ea typeface="Arial" pitchFamily="34" charset="-122"/>
                <a:cs typeface="Arial" pitchFamily="34" charset="-120"/>
              </a:rPr>
              <a:t>garments per hour (max)</a:t>
            </a:r>
            <a:endParaRPr lang="en-US" sz="1050" dirty="0"/>
          </a:p>
        </p:txBody>
      </p:sp>
      <p:sp>
        <p:nvSpPr>
          <p:cNvPr id="46" name="Shape 44"/>
          <p:cNvSpPr/>
          <p:nvPr/>
        </p:nvSpPr>
        <p:spPr>
          <a:xfrm>
            <a:off x="4652010" y="1828800"/>
            <a:ext cx="2183130" cy="1234440"/>
          </a:xfrm>
          <a:prstGeom prst="roundRect">
            <a:avLst>
              <a:gd name="adj" fmla="val 5926"/>
            </a:avLst>
          </a:prstGeom>
          <a:solidFill>
            <a:srgbClr val="172231"/>
          </a:solidFill>
          <a:ln w="9525">
            <a:solidFill>
              <a:srgbClr val="2A3A4E"/>
            </a:solidFill>
            <a:prstDash val="solid"/>
          </a:ln>
        </p:spPr>
      </p:sp>
      <p:sp>
        <p:nvSpPr>
          <p:cNvPr id="47" name="Text 45"/>
          <p:cNvSpPr txBox="1"/>
          <p:nvPr/>
        </p:nvSpPr>
        <p:spPr>
          <a:xfrm>
            <a:off x="4880610" y="1938528"/>
            <a:ext cx="1725930" cy="594360"/>
          </a:xfrm>
          <a:prstGeom prst="rect">
            <a:avLst/>
          </a:prstGeom>
          <a:noFill/>
          <a:ln/>
        </p:spPr>
        <p:txBody>
          <a:bodyPr wrap="square" lIns="0" tIns="0" rIns="0" bIns="0" rtlCol="0" anchor="t"/>
          <a:lstStyle/>
          <a:p>
            <a:pPr indent="0" marL="0">
              <a:buNone/>
            </a:pPr>
            <a:r>
              <a:rPr lang="en-US" sz="3200" b="1" dirty="0">
                <a:solidFill>
                  <a:srgbClr val="1E9BE3"/>
                </a:solidFill>
                <a:latin typeface="Arial" pitchFamily="34" charset="0"/>
                <a:ea typeface="Arial" pitchFamily="34" charset="-122"/>
                <a:cs typeface="Arial" pitchFamily="34" charset="-120"/>
              </a:rPr>
              <a:t>S → 2XL</a:t>
            </a:r>
            <a:endParaRPr lang="en-US" sz="3200" dirty="0"/>
          </a:p>
        </p:txBody>
      </p:sp>
      <p:sp>
        <p:nvSpPr>
          <p:cNvPr id="48" name="Text 46"/>
          <p:cNvSpPr txBox="1"/>
          <p:nvPr/>
        </p:nvSpPr>
        <p:spPr>
          <a:xfrm>
            <a:off x="4880610" y="2560320"/>
            <a:ext cx="1725930" cy="411480"/>
          </a:xfrm>
          <a:prstGeom prst="rect">
            <a:avLst/>
          </a:prstGeom>
          <a:noFill/>
          <a:ln/>
        </p:spPr>
        <p:txBody>
          <a:bodyPr wrap="square" lIns="0" tIns="0" rIns="0" bIns="0" rtlCol="0" anchor="t"/>
          <a:lstStyle/>
          <a:p>
            <a:pPr indent="0" marL="0">
              <a:buNone/>
            </a:pPr>
            <a:r>
              <a:rPr lang="en-US" sz="1050" dirty="0">
                <a:solidFill>
                  <a:srgbClr val="93A1B0"/>
                </a:solidFill>
                <a:latin typeface="Arial" pitchFamily="34" charset="0"/>
                <a:ea typeface="Arial" pitchFamily="34" charset="-122"/>
                <a:cs typeface="Arial" pitchFamily="34" charset="-120"/>
              </a:rPr>
              <a:t>youth to adult, shirts &amp; sweatshirts</a:t>
            </a:r>
            <a:endParaRPr lang="en-US" sz="1050" dirty="0"/>
          </a:p>
        </p:txBody>
      </p:sp>
      <p:sp>
        <p:nvSpPr>
          <p:cNvPr id="49" name="Shape 47"/>
          <p:cNvSpPr/>
          <p:nvPr/>
        </p:nvSpPr>
        <p:spPr>
          <a:xfrm>
            <a:off x="7109460" y="1828800"/>
            <a:ext cx="2183130" cy="1234440"/>
          </a:xfrm>
          <a:prstGeom prst="roundRect">
            <a:avLst>
              <a:gd name="adj" fmla="val 5926"/>
            </a:avLst>
          </a:prstGeom>
          <a:solidFill>
            <a:srgbClr val="172231"/>
          </a:solidFill>
          <a:ln w="9525">
            <a:solidFill>
              <a:srgbClr val="2A3A4E"/>
            </a:solidFill>
            <a:prstDash val="solid"/>
          </a:ln>
        </p:spPr>
      </p:sp>
      <p:sp>
        <p:nvSpPr>
          <p:cNvPr id="50" name="Text 48"/>
          <p:cNvSpPr txBox="1"/>
          <p:nvPr/>
        </p:nvSpPr>
        <p:spPr>
          <a:xfrm>
            <a:off x="7338060" y="1938528"/>
            <a:ext cx="1725930" cy="594360"/>
          </a:xfrm>
          <a:prstGeom prst="rect">
            <a:avLst/>
          </a:prstGeom>
          <a:noFill/>
          <a:ln/>
        </p:spPr>
        <p:txBody>
          <a:bodyPr wrap="square" lIns="0" tIns="0" rIns="0" bIns="0" rtlCol="0" anchor="t"/>
          <a:lstStyle/>
          <a:p>
            <a:pPr indent="0" marL="0">
              <a:buNone/>
            </a:pPr>
            <a:r>
              <a:rPr lang="en-US" sz="3200" b="1" dirty="0">
                <a:solidFill>
                  <a:srgbClr val="1E9BE3"/>
                </a:solidFill>
                <a:latin typeface="Arial" pitchFamily="34" charset="0"/>
                <a:ea typeface="Arial" pitchFamily="34" charset="-122"/>
                <a:cs typeface="Arial" pitchFamily="34" charset="-120"/>
              </a:rPr>
              <a:t>24 in</a:t>
            </a:r>
            <a:endParaRPr lang="en-US" sz="3200" dirty="0"/>
          </a:p>
        </p:txBody>
      </p:sp>
      <p:sp>
        <p:nvSpPr>
          <p:cNvPr id="51" name="Text 49"/>
          <p:cNvSpPr txBox="1"/>
          <p:nvPr/>
        </p:nvSpPr>
        <p:spPr>
          <a:xfrm>
            <a:off x="7338060" y="2560320"/>
            <a:ext cx="1725930" cy="411480"/>
          </a:xfrm>
          <a:prstGeom prst="rect">
            <a:avLst/>
          </a:prstGeom>
          <a:noFill/>
          <a:ln/>
        </p:spPr>
        <p:txBody>
          <a:bodyPr wrap="square" lIns="0" tIns="0" rIns="0" bIns="0" rtlCol="0" anchor="t"/>
          <a:lstStyle/>
          <a:p>
            <a:pPr indent="0" marL="0">
              <a:buNone/>
            </a:pPr>
            <a:r>
              <a:rPr lang="en-US" sz="1050" dirty="0">
                <a:solidFill>
                  <a:srgbClr val="93A1B0"/>
                </a:solidFill>
                <a:latin typeface="Arial" pitchFamily="34" charset="0"/>
                <a:ea typeface="Arial" pitchFamily="34" charset="-122"/>
                <a:cs typeface="Arial" pitchFamily="34" charset="-120"/>
              </a:rPr>
              <a:t>maximum stack height</a:t>
            </a:r>
            <a:endParaRPr lang="en-US" sz="1050" dirty="0"/>
          </a:p>
        </p:txBody>
      </p:sp>
      <p:sp>
        <p:nvSpPr>
          <p:cNvPr id="52" name="Shape 50"/>
          <p:cNvSpPr/>
          <p:nvPr/>
        </p:nvSpPr>
        <p:spPr>
          <a:xfrm>
            <a:off x="9566910" y="1828800"/>
            <a:ext cx="2183130" cy="1234440"/>
          </a:xfrm>
          <a:prstGeom prst="roundRect">
            <a:avLst>
              <a:gd name="adj" fmla="val 5926"/>
            </a:avLst>
          </a:prstGeom>
          <a:solidFill>
            <a:srgbClr val="172231"/>
          </a:solidFill>
          <a:ln w="9525">
            <a:solidFill>
              <a:srgbClr val="2A3A4E"/>
            </a:solidFill>
            <a:prstDash val="solid"/>
          </a:ln>
        </p:spPr>
      </p:sp>
      <p:sp>
        <p:nvSpPr>
          <p:cNvPr id="53" name="Text 51"/>
          <p:cNvSpPr txBox="1"/>
          <p:nvPr/>
        </p:nvSpPr>
        <p:spPr>
          <a:xfrm>
            <a:off x="9795510" y="1938528"/>
            <a:ext cx="1725930" cy="594360"/>
          </a:xfrm>
          <a:prstGeom prst="rect">
            <a:avLst/>
          </a:prstGeom>
          <a:noFill/>
          <a:ln/>
        </p:spPr>
        <p:txBody>
          <a:bodyPr wrap="square" lIns="0" tIns="0" rIns="0" bIns="0" rtlCol="0" anchor="t"/>
          <a:lstStyle/>
          <a:p>
            <a:pPr indent="0" marL="0">
              <a:buNone/>
            </a:pPr>
            <a:r>
              <a:rPr lang="en-US" sz="3200" b="1" dirty="0">
                <a:solidFill>
                  <a:srgbClr val="1E9BE3"/>
                </a:solidFill>
                <a:latin typeface="Arial" pitchFamily="34" charset="0"/>
                <a:ea typeface="Arial" pitchFamily="34" charset="-122"/>
                <a:cs typeface="Arial" pitchFamily="34" charset="-120"/>
              </a:rPr>
              <a:t>$9,000</a:t>
            </a:r>
            <a:endParaRPr lang="en-US" sz="3200" dirty="0"/>
          </a:p>
        </p:txBody>
      </p:sp>
      <p:sp>
        <p:nvSpPr>
          <p:cNvPr id="54" name="Text 52"/>
          <p:cNvSpPr txBox="1"/>
          <p:nvPr/>
        </p:nvSpPr>
        <p:spPr>
          <a:xfrm>
            <a:off x="9795510" y="2560320"/>
            <a:ext cx="1725930" cy="411480"/>
          </a:xfrm>
          <a:prstGeom prst="rect">
            <a:avLst/>
          </a:prstGeom>
          <a:noFill/>
          <a:ln/>
        </p:spPr>
        <p:txBody>
          <a:bodyPr wrap="square" lIns="0" tIns="0" rIns="0" bIns="0" rtlCol="0" anchor="t"/>
          <a:lstStyle/>
          <a:p>
            <a:pPr indent="0" marL="0">
              <a:buNone/>
            </a:pPr>
            <a:r>
              <a:rPr lang="en-US" sz="1050" dirty="0">
                <a:solidFill>
                  <a:srgbClr val="93A1B0"/>
                </a:solidFill>
                <a:latin typeface="Arial" pitchFamily="34" charset="0"/>
                <a:ea typeface="Arial" pitchFamily="34" charset="-122"/>
                <a:cs typeface="Arial" pitchFamily="34" charset="-120"/>
              </a:rPr>
              <a:t>total system budget</a:t>
            </a:r>
            <a:endParaRPr lang="en-US" sz="1050" dirty="0"/>
          </a:p>
        </p:txBody>
      </p:sp>
      <p:sp>
        <p:nvSpPr>
          <p:cNvPr id="55" name="Shape 53"/>
          <p:cNvSpPr/>
          <p:nvPr/>
        </p:nvSpPr>
        <p:spPr>
          <a:xfrm>
            <a:off x="2194560" y="3337560"/>
            <a:ext cx="3002280" cy="2651760"/>
          </a:xfrm>
          <a:prstGeom prst="roundRect">
            <a:avLst>
              <a:gd name="adj" fmla="val 2759"/>
            </a:avLst>
          </a:prstGeom>
          <a:solidFill>
            <a:srgbClr val="172231"/>
          </a:solidFill>
          <a:ln w="9525">
            <a:solidFill>
              <a:srgbClr val="2A3A4E"/>
            </a:solidFill>
            <a:prstDash val="solid"/>
          </a:ln>
        </p:spPr>
      </p:sp>
      <p:sp>
        <p:nvSpPr>
          <p:cNvPr id="56" name="Text 54"/>
          <p:cNvSpPr txBox="1"/>
          <p:nvPr/>
        </p:nvSpPr>
        <p:spPr>
          <a:xfrm>
            <a:off x="2423160" y="3520440"/>
            <a:ext cx="25450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Functional Requirements</a:t>
            </a:r>
            <a:endParaRPr lang="en-US" sz="1300" dirty="0"/>
          </a:p>
        </p:txBody>
      </p:sp>
      <p:sp>
        <p:nvSpPr>
          <p:cNvPr id="57" name="Text 55"/>
          <p:cNvSpPr txBox="1"/>
          <p:nvPr/>
        </p:nvSpPr>
        <p:spPr>
          <a:xfrm>
            <a:off x="2423160" y="3886200"/>
            <a:ext cx="2590800" cy="23774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Transfer garments from the dryer conveyor into organized stacks</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Throughput of up to 200 garments/hour</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Detect and signal a completed stack</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Fault detection with audible and visual alarms</a:t>
            </a:r>
            <a:endParaRPr lang="en-US" sz="1100" dirty="0"/>
          </a:p>
        </p:txBody>
      </p:sp>
      <p:sp>
        <p:nvSpPr>
          <p:cNvPr id="58" name="Shape 56"/>
          <p:cNvSpPr/>
          <p:nvPr/>
        </p:nvSpPr>
        <p:spPr>
          <a:xfrm>
            <a:off x="5471160" y="3337560"/>
            <a:ext cx="3002280" cy="2651760"/>
          </a:xfrm>
          <a:prstGeom prst="roundRect">
            <a:avLst>
              <a:gd name="adj" fmla="val 2759"/>
            </a:avLst>
          </a:prstGeom>
          <a:solidFill>
            <a:srgbClr val="172231"/>
          </a:solidFill>
          <a:ln w="9525">
            <a:solidFill>
              <a:srgbClr val="2A3A4E"/>
            </a:solidFill>
            <a:prstDash val="solid"/>
          </a:ln>
        </p:spPr>
      </p:sp>
      <p:sp>
        <p:nvSpPr>
          <p:cNvPr id="59" name="Text 57"/>
          <p:cNvSpPr txBox="1"/>
          <p:nvPr/>
        </p:nvSpPr>
        <p:spPr>
          <a:xfrm>
            <a:off x="5699760" y="3520440"/>
            <a:ext cx="25450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Performance Targets</a:t>
            </a:r>
            <a:endParaRPr lang="en-US" sz="1300" dirty="0"/>
          </a:p>
        </p:txBody>
      </p:sp>
      <p:sp>
        <p:nvSpPr>
          <p:cNvPr id="60" name="Text 58"/>
          <p:cNvSpPr txBox="1"/>
          <p:nvPr/>
        </p:nvSpPr>
        <p:spPr>
          <a:xfrm>
            <a:off x="5699760" y="3886200"/>
            <a:ext cx="2590800" cy="23774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Stack alignment ±1 in, repeatability ±0.5 in</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Stable stacks: no tipping or misalignment</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Near-continuous operation</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Handle variation in garment size, weight, fabric, and feed rate</a:t>
            </a:r>
            <a:endParaRPr lang="en-US" sz="1100" dirty="0"/>
          </a:p>
        </p:txBody>
      </p:sp>
      <p:sp>
        <p:nvSpPr>
          <p:cNvPr id="61" name="Shape 59"/>
          <p:cNvSpPr/>
          <p:nvPr/>
        </p:nvSpPr>
        <p:spPr>
          <a:xfrm>
            <a:off x="8747760" y="3337560"/>
            <a:ext cx="3002280" cy="2651760"/>
          </a:xfrm>
          <a:prstGeom prst="roundRect">
            <a:avLst>
              <a:gd name="adj" fmla="val 2759"/>
            </a:avLst>
          </a:prstGeom>
          <a:solidFill>
            <a:srgbClr val="172231"/>
          </a:solidFill>
          <a:ln w="9525">
            <a:solidFill>
              <a:srgbClr val="2A3A4E"/>
            </a:solidFill>
            <a:prstDash val="solid"/>
          </a:ln>
        </p:spPr>
      </p:sp>
      <p:sp>
        <p:nvSpPr>
          <p:cNvPr id="62" name="Text 60"/>
          <p:cNvSpPr txBox="1"/>
          <p:nvPr/>
        </p:nvSpPr>
        <p:spPr>
          <a:xfrm>
            <a:off x="8976360" y="3520440"/>
            <a:ext cx="25450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Constraints</a:t>
            </a:r>
            <a:endParaRPr lang="en-US" sz="1300" dirty="0"/>
          </a:p>
        </p:txBody>
      </p:sp>
      <p:sp>
        <p:nvSpPr>
          <p:cNvPr id="63" name="Text 61"/>
          <p:cNvSpPr txBox="1"/>
          <p:nvPr/>
        </p:nvSpPr>
        <p:spPr>
          <a:xfrm>
            <a:off x="8976360" y="3886200"/>
            <a:ext cx="2590800" cy="23774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Footprint of about 2.4 m × 1.2 m</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$9,000 total budget</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Integrates with existing dryer, no permanent modification</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Semi-autonomous with a simple UI</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OSHA-compliant, reliable, easy to maintain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E9BE3"/>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3</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How It Works</a:t>
            </a:r>
            <a:endParaRPr lang="en-US" sz="2600" dirty="0"/>
          </a:p>
        </p:txBody>
      </p:sp>
      <p:sp>
        <p:nvSpPr>
          <p:cNvPr id="43" name="Shape 41"/>
          <p:cNvSpPr/>
          <p:nvPr/>
        </p:nvSpPr>
        <p:spPr>
          <a:xfrm>
            <a:off x="2194560" y="1828800"/>
            <a:ext cx="2080260" cy="1965960"/>
          </a:xfrm>
          <a:prstGeom prst="roundRect">
            <a:avLst>
              <a:gd name="adj" fmla="val 3721"/>
            </a:avLst>
          </a:prstGeom>
          <a:solidFill>
            <a:srgbClr val="172231"/>
          </a:solidFill>
          <a:ln w="9525">
            <a:solidFill>
              <a:srgbClr val="2A3A4E"/>
            </a:solidFill>
            <a:prstDash val="solid"/>
          </a:ln>
        </p:spPr>
      </p:sp>
      <p:sp>
        <p:nvSpPr>
          <p:cNvPr id="44" name="Shape 42"/>
          <p:cNvSpPr/>
          <p:nvPr/>
        </p:nvSpPr>
        <p:spPr>
          <a:xfrm>
            <a:off x="2395728" y="2011680"/>
            <a:ext cx="438912" cy="438912"/>
          </a:xfrm>
          <a:prstGeom prst="ellipse">
            <a:avLst/>
          </a:prstGeom>
          <a:solidFill>
            <a:srgbClr val="1E9BE3"/>
          </a:solidFill>
          <a:ln w="12700">
            <a:solidFill>
              <a:srgbClr val="1E9BE3"/>
            </a:solidFill>
            <a:prstDash val="solid"/>
          </a:ln>
        </p:spPr>
      </p:sp>
      <p:sp>
        <p:nvSpPr>
          <p:cNvPr id="45" name="Text 43"/>
          <p:cNvSpPr txBox="1"/>
          <p:nvPr/>
        </p:nvSpPr>
        <p:spPr>
          <a:xfrm>
            <a:off x="2395728" y="20116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46" name="Text 44"/>
          <p:cNvSpPr txBox="1"/>
          <p:nvPr/>
        </p:nvSpPr>
        <p:spPr>
          <a:xfrm>
            <a:off x="2971800" y="2103120"/>
            <a:ext cx="11658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Detect</a:t>
            </a:r>
            <a:endParaRPr lang="en-US" sz="1300" dirty="0"/>
          </a:p>
        </p:txBody>
      </p:sp>
      <p:sp>
        <p:nvSpPr>
          <p:cNvPr id="47" name="Text 45"/>
          <p:cNvSpPr txBox="1"/>
          <p:nvPr/>
        </p:nvSpPr>
        <p:spPr>
          <a:xfrm>
            <a:off x="2395728" y="2606040"/>
            <a:ext cx="1677924"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An infrared break-beam sees a garment leaving the dryer belt.</a:t>
            </a:r>
            <a:endParaRPr lang="en-US" sz="1050" dirty="0"/>
          </a:p>
        </p:txBody>
      </p:sp>
      <p:sp>
        <p:nvSpPr>
          <p:cNvPr id="48" name="Text 46"/>
          <p:cNvSpPr txBox="1"/>
          <p:nvPr/>
        </p:nvSpPr>
        <p:spPr>
          <a:xfrm>
            <a:off x="4320540" y="2606040"/>
            <a:ext cx="320040" cy="365760"/>
          </a:xfrm>
          <a:prstGeom prst="rect">
            <a:avLst/>
          </a:prstGeom>
          <a:noFill/>
          <a:ln/>
        </p:spPr>
        <p:txBody>
          <a:bodyPr wrap="square" lIns="0" tIns="0" rIns="0" bIns="0" rtlCol="0" anchor="t"/>
          <a:lstStyle/>
          <a:p>
            <a:pPr algn="ctr" indent="0" marL="0">
              <a:buNone/>
            </a:pPr>
            <a:r>
              <a:rPr lang="en-US" sz="1800" dirty="0">
                <a:solidFill>
                  <a:srgbClr val="93A1B0"/>
                </a:solidFill>
                <a:latin typeface="Arial" pitchFamily="34" charset="0"/>
                <a:ea typeface="Arial" pitchFamily="34" charset="-122"/>
                <a:cs typeface="Arial" pitchFamily="34" charset="-120"/>
              </a:rPr>
              <a:t>→</a:t>
            </a:r>
            <a:endParaRPr lang="en-US" sz="1800" dirty="0"/>
          </a:p>
        </p:txBody>
      </p:sp>
      <p:sp>
        <p:nvSpPr>
          <p:cNvPr id="49" name="Shape 47"/>
          <p:cNvSpPr/>
          <p:nvPr/>
        </p:nvSpPr>
        <p:spPr>
          <a:xfrm>
            <a:off x="4686300" y="1828800"/>
            <a:ext cx="2080260" cy="1965960"/>
          </a:xfrm>
          <a:prstGeom prst="roundRect">
            <a:avLst>
              <a:gd name="adj" fmla="val 3721"/>
            </a:avLst>
          </a:prstGeom>
          <a:solidFill>
            <a:srgbClr val="172231"/>
          </a:solidFill>
          <a:ln w="9525">
            <a:solidFill>
              <a:srgbClr val="2A3A4E"/>
            </a:solidFill>
            <a:prstDash val="solid"/>
          </a:ln>
        </p:spPr>
      </p:sp>
      <p:sp>
        <p:nvSpPr>
          <p:cNvPr id="50" name="Shape 48"/>
          <p:cNvSpPr/>
          <p:nvPr/>
        </p:nvSpPr>
        <p:spPr>
          <a:xfrm>
            <a:off x="4887468" y="2011680"/>
            <a:ext cx="438912" cy="438912"/>
          </a:xfrm>
          <a:prstGeom prst="ellipse">
            <a:avLst/>
          </a:prstGeom>
          <a:solidFill>
            <a:srgbClr val="1E9BE3"/>
          </a:solidFill>
          <a:ln w="12700">
            <a:solidFill>
              <a:srgbClr val="1E9BE3"/>
            </a:solidFill>
            <a:prstDash val="solid"/>
          </a:ln>
        </p:spPr>
      </p:sp>
      <p:sp>
        <p:nvSpPr>
          <p:cNvPr id="51" name="Text 49"/>
          <p:cNvSpPr txBox="1"/>
          <p:nvPr/>
        </p:nvSpPr>
        <p:spPr>
          <a:xfrm>
            <a:off x="4887468" y="20116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52" name="Text 50"/>
          <p:cNvSpPr txBox="1"/>
          <p:nvPr/>
        </p:nvSpPr>
        <p:spPr>
          <a:xfrm>
            <a:off x="5463540" y="2103120"/>
            <a:ext cx="11658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Catch</a:t>
            </a:r>
            <a:endParaRPr lang="en-US" sz="1300" dirty="0"/>
          </a:p>
        </p:txBody>
      </p:sp>
      <p:sp>
        <p:nvSpPr>
          <p:cNvPr id="53" name="Text 51"/>
          <p:cNvSpPr txBox="1"/>
          <p:nvPr/>
        </p:nvSpPr>
        <p:spPr>
          <a:xfrm>
            <a:off x="4887468" y="2606040"/>
            <a:ext cx="1677924"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The shuttle translates under the dryer exit to receive the garment, then carries it over the stack.</a:t>
            </a:r>
            <a:endParaRPr lang="en-US" sz="1050" dirty="0"/>
          </a:p>
        </p:txBody>
      </p:sp>
      <p:sp>
        <p:nvSpPr>
          <p:cNvPr id="54" name="Text 52"/>
          <p:cNvSpPr txBox="1"/>
          <p:nvPr/>
        </p:nvSpPr>
        <p:spPr>
          <a:xfrm>
            <a:off x="6812280" y="2606040"/>
            <a:ext cx="320040" cy="365760"/>
          </a:xfrm>
          <a:prstGeom prst="rect">
            <a:avLst/>
          </a:prstGeom>
          <a:noFill/>
          <a:ln/>
        </p:spPr>
        <p:txBody>
          <a:bodyPr wrap="square" lIns="0" tIns="0" rIns="0" bIns="0" rtlCol="0" anchor="t"/>
          <a:lstStyle/>
          <a:p>
            <a:pPr algn="ctr" indent="0" marL="0">
              <a:buNone/>
            </a:pPr>
            <a:r>
              <a:rPr lang="en-US" sz="1800" dirty="0">
                <a:solidFill>
                  <a:srgbClr val="93A1B0"/>
                </a:solidFill>
                <a:latin typeface="Arial" pitchFamily="34" charset="0"/>
                <a:ea typeface="Arial" pitchFamily="34" charset="-122"/>
                <a:cs typeface="Arial" pitchFamily="34" charset="-120"/>
              </a:rPr>
              <a:t>→</a:t>
            </a:r>
            <a:endParaRPr lang="en-US" sz="1800" dirty="0"/>
          </a:p>
        </p:txBody>
      </p:sp>
      <p:sp>
        <p:nvSpPr>
          <p:cNvPr id="55" name="Shape 53"/>
          <p:cNvSpPr/>
          <p:nvPr/>
        </p:nvSpPr>
        <p:spPr>
          <a:xfrm>
            <a:off x="7178040" y="1828800"/>
            <a:ext cx="2080260" cy="1965960"/>
          </a:xfrm>
          <a:prstGeom prst="roundRect">
            <a:avLst>
              <a:gd name="adj" fmla="val 3721"/>
            </a:avLst>
          </a:prstGeom>
          <a:solidFill>
            <a:srgbClr val="172231"/>
          </a:solidFill>
          <a:ln w="9525">
            <a:solidFill>
              <a:srgbClr val="2A3A4E"/>
            </a:solidFill>
            <a:prstDash val="solid"/>
          </a:ln>
        </p:spPr>
      </p:sp>
      <p:sp>
        <p:nvSpPr>
          <p:cNvPr id="56" name="Shape 54"/>
          <p:cNvSpPr/>
          <p:nvPr/>
        </p:nvSpPr>
        <p:spPr>
          <a:xfrm>
            <a:off x="7379208" y="2011680"/>
            <a:ext cx="438912" cy="438912"/>
          </a:xfrm>
          <a:prstGeom prst="ellipse">
            <a:avLst/>
          </a:prstGeom>
          <a:solidFill>
            <a:srgbClr val="1E9BE3"/>
          </a:solidFill>
          <a:ln w="12700">
            <a:solidFill>
              <a:srgbClr val="1E9BE3"/>
            </a:solidFill>
            <a:prstDash val="solid"/>
          </a:ln>
        </p:spPr>
      </p:sp>
      <p:sp>
        <p:nvSpPr>
          <p:cNvPr id="57" name="Text 55"/>
          <p:cNvSpPr txBox="1"/>
          <p:nvPr/>
        </p:nvSpPr>
        <p:spPr>
          <a:xfrm>
            <a:off x="7379208" y="20116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58" name="Text 56"/>
          <p:cNvSpPr txBox="1"/>
          <p:nvPr/>
        </p:nvSpPr>
        <p:spPr>
          <a:xfrm>
            <a:off x="7955280" y="2103120"/>
            <a:ext cx="11658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Place</a:t>
            </a:r>
            <a:endParaRPr lang="en-US" sz="1300" dirty="0"/>
          </a:p>
        </p:txBody>
      </p:sp>
      <p:sp>
        <p:nvSpPr>
          <p:cNvPr id="59" name="Text 57"/>
          <p:cNvSpPr txBox="1"/>
          <p:nvPr/>
        </p:nvSpPr>
        <p:spPr>
          <a:xfrm>
            <a:off x="7379208" y="2606040"/>
            <a:ext cx="1677924"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The shuttle retracts while its belt conveys forward, laying the garment flat instead of dropping it.</a:t>
            </a:r>
            <a:endParaRPr lang="en-US" sz="1050" dirty="0"/>
          </a:p>
        </p:txBody>
      </p:sp>
      <p:sp>
        <p:nvSpPr>
          <p:cNvPr id="60" name="Text 58"/>
          <p:cNvSpPr txBox="1"/>
          <p:nvPr/>
        </p:nvSpPr>
        <p:spPr>
          <a:xfrm>
            <a:off x="9304020" y="2606040"/>
            <a:ext cx="320040" cy="365760"/>
          </a:xfrm>
          <a:prstGeom prst="rect">
            <a:avLst/>
          </a:prstGeom>
          <a:noFill/>
          <a:ln/>
        </p:spPr>
        <p:txBody>
          <a:bodyPr wrap="square" lIns="0" tIns="0" rIns="0" bIns="0" rtlCol="0" anchor="t"/>
          <a:lstStyle/>
          <a:p>
            <a:pPr algn="ctr" indent="0" marL="0">
              <a:buNone/>
            </a:pPr>
            <a:r>
              <a:rPr lang="en-US" sz="1800" dirty="0">
                <a:solidFill>
                  <a:srgbClr val="93A1B0"/>
                </a:solidFill>
                <a:latin typeface="Arial" pitchFamily="34" charset="0"/>
                <a:ea typeface="Arial" pitchFamily="34" charset="-122"/>
                <a:cs typeface="Arial" pitchFamily="34" charset="-120"/>
              </a:rPr>
              <a:t>→</a:t>
            </a:r>
            <a:endParaRPr lang="en-US" sz="1800" dirty="0"/>
          </a:p>
        </p:txBody>
      </p:sp>
      <p:sp>
        <p:nvSpPr>
          <p:cNvPr id="61" name="Shape 59"/>
          <p:cNvSpPr/>
          <p:nvPr/>
        </p:nvSpPr>
        <p:spPr>
          <a:xfrm>
            <a:off x="9669780" y="1828800"/>
            <a:ext cx="2080260" cy="1965960"/>
          </a:xfrm>
          <a:prstGeom prst="roundRect">
            <a:avLst>
              <a:gd name="adj" fmla="val 3721"/>
            </a:avLst>
          </a:prstGeom>
          <a:solidFill>
            <a:srgbClr val="172231"/>
          </a:solidFill>
          <a:ln w="9525">
            <a:solidFill>
              <a:srgbClr val="2A3A4E"/>
            </a:solidFill>
            <a:prstDash val="solid"/>
          </a:ln>
        </p:spPr>
      </p:sp>
      <p:sp>
        <p:nvSpPr>
          <p:cNvPr id="62" name="Shape 60"/>
          <p:cNvSpPr/>
          <p:nvPr/>
        </p:nvSpPr>
        <p:spPr>
          <a:xfrm>
            <a:off x="9870948" y="2011680"/>
            <a:ext cx="438912" cy="438912"/>
          </a:xfrm>
          <a:prstGeom prst="ellipse">
            <a:avLst/>
          </a:prstGeom>
          <a:solidFill>
            <a:srgbClr val="1E9BE3"/>
          </a:solidFill>
          <a:ln w="12700">
            <a:solidFill>
              <a:srgbClr val="1E9BE3"/>
            </a:solidFill>
            <a:prstDash val="solid"/>
          </a:ln>
        </p:spPr>
      </p:sp>
      <p:sp>
        <p:nvSpPr>
          <p:cNvPr id="63" name="Text 61"/>
          <p:cNvSpPr txBox="1"/>
          <p:nvPr/>
        </p:nvSpPr>
        <p:spPr>
          <a:xfrm>
            <a:off x="9870948" y="20116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64" name="Text 62"/>
          <p:cNvSpPr txBox="1"/>
          <p:nvPr/>
        </p:nvSpPr>
        <p:spPr>
          <a:xfrm>
            <a:off x="10447020" y="2103120"/>
            <a:ext cx="11658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Lower &amp; Alert</a:t>
            </a:r>
            <a:endParaRPr lang="en-US" sz="1300" dirty="0"/>
          </a:p>
        </p:txBody>
      </p:sp>
      <p:sp>
        <p:nvSpPr>
          <p:cNvPr id="65" name="Text 63"/>
          <p:cNvSpPr txBox="1"/>
          <p:nvPr/>
        </p:nvSpPr>
        <p:spPr>
          <a:xfrm>
            <a:off x="9870948" y="2606040"/>
            <a:ext cx="1677924"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A break-beam monitors stack height; the platform steps down, and a light and alarm signal a full stack.</a:t>
            </a:r>
            <a:endParaRPr lang="en-US" sz="1050" dirty="0"/>
          </a:p>
        </p:txBody>
      </p:sp>
      <p:sp>
        <p:nvSpPr>
          <p:cNvPr id="66" name="Shape 64"/>
          <p:cNvSpPr/>
          <p:nvPr/>
        </p:nvSpPr>
        <p:spPr>
          <a:xfrm>
            <a:off x="2194560" y="4069080"/>
            <a:ext cx="9555480" cy="2039112"/>
          </a:xfrm>
          <a:prstGeom prst="roundRect">
            <a:avLst>
              <a:gd name="adj" fmla="val 3587"/>
            </a:avLst>
          </a:prstGeom>
          <a:solidFill>
            <a:srgbClr val="FFFFFF"/>
          </a:solidFill>
          <a:ln w="9525">
            <a:solidFill>
              <a:srgbClr val="2A3A4E"/>
            </a:solidFill>
            <a:prstDash val="solid"/>
          </a:ln>
        </p:spPr>
      </p:sp>
      <p:pic>
        <p:nvPicPr>
          <p:cNvPr id="67" name="Image 0" descr="tshirt-stacker/images/placement-sequence.png">    </p:cNvPr>
          <p:cNvPicPr>
            <a:picLocks noChangeAspect="1"/>
          </p:cNvPicPr>
          <p:nvPr/>
        </p:nvPicPr>
        <p:blipFill>
          <a:blip r:embed="rId1"/>
          <a:stretch>
            <a:fillRect/>
          </a:stretch>
        </p:blipFill>
        <p:spPr>
          <a:xfrm>
            <a:off x="3636922" y="4178808"/>
            <a:ext cx="6670756" cy="1819656"/>
          </a:xfrm>
          <a:prstGeom prst="rect">
            <a:avLst/>
          </a:prstGeom>
        </p:spPr>
      </p:pic>
      <p:sp>
        <p:nvSpPr>
          <p:cNvPr id="68" name="Text 65"/>
          <p:cNvSpPr txBox="1"/>
          <p:nvPr/>
        </p:nvSpPr>
        <p:spPr>
          <a:xfrm>
            <a:off x="2194560" y="6163056"/>
            <a:ext cx="955548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Placement sequence: receive, travel over the stack, then retract while conveying forward to lay the garment flat.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E9BE3"/>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4</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System Architecture</a:t>
            </a:r>
            <a:endParaRPr lang="en-US" sz="2600" dirty="0"/>
          </a:p>
        </p:txBody>
      </p:sp>
      <p:sp>
        <p:nvSpPr>
          <p:cNvPr id="43" name="Text 41"/>
          <p:cNvSpPr txBox="1"/>
          <p:nvPr/>
        </p:nvSpPr>
        <p:spPr>
          <a:xfrm>
            <a:off x="2194560" y="1627632"/>
            <a:ext cx="955548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Controller-centric block diagram</a:t>
            </a:r>
            <a:endParaRPr lang="en-US" sz="1300" dirty="0"/>
          </a:p>
        </p:txBody>
      </p:sp>
      <p:sp>
        <p:nvSpPr>
          <p:cNvPr id="44" name="Shape 42"/>
          <p:cNvSpPr/>
          <p:nvPr/>
        </p:nvSpPr>
        <p:spPr>
          <a:xfrm>
            <a:off x="2194560" y="2103120"/>
            <a:ext cx="2880360" cy="3291840"/>
          </a:xfrm>
          <a:prstGeom prst="roundRect">
            <a:avLst>
              <a:gd name="adj" fmla="val 2540"/>
            </a:avLst>
          </a:prstGeom>
          <a:solidFill>
            <a:srgbClr val="172231"/>
          </a:solidFill>
          <a:ln w="9525">
            <a:solidFill>
              <a:srgbClr val="2A3A4E"/>
            </a:solidFill>
            <a:prstDash val="solid"/>
          </a:ln>
        </p:spPr>
      </p:sp>
      <p:sp>
        <p:nvSpPr>
          <p:cNvPr id="45" name="Text 43"/>
          <p:cNvSpPr txBox="1"/>
          <p:nvPr/>
        </p:nvSpPr>
        <p:spPr>
          <a:xfrm>
            <a:off x="2423160" y="2286000"/>
            <a:ext cx="24231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Inputs / Sensors</a:t>
            </a:r>
            <a:endParaRPr lang="en-US" sz="1300" dirty="0"/>
          </a:p>
        </p:txBody>
      </p:sp>
      <p:sp>
        <p:nvSpPr>
          <p:cNvPr id="46" name="Text 44"/>
          <p:cNvSpPr txBox="1"/>
          <p:nvPr/>
        </p:nvSpPr>
        <p:spPr>
          <a:xfrm>
            <a:off x="2423160" y="2670048"/>
            <a:ext cx="2468880" cy="26517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Garment detection: IR break-beam</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Stack height: IR break-beam</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Shuttle home: Hall-effect sensors</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Platform down: Hall-effect + limit switch</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Operator panel: LCD, encoder, Start, Pause, Home, Reset</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E-stop and fault inputs</a:t>
            </a:r>
            <a:endParaRPr lang="en-US" sz="1100" dirty="0"/>
          </a:p>
        </p:txBody>
      </p:sp>
      <p:sp>
        <p:nvSpPr>
          <p:cNvPr id="47" name="Text 45"/>
          <p:cNvSpPr txBox="1"/>
          <p:nvPr/>
        </p:nvSpPr>
        <p:spPr>
          <a:xfrm>
            <a:off x="5120640" y="3520440"/>
            <a:ext cx="365760" cy="365760"/>
          </a:xfrm>
          <a:prstGeom prst="rect">
            <a:avLst/>
          </a:prstGeom>
          <a:noFill/>
          <a:ln/>
        </p:spPr>
        <p:txBody>
          <a:bodyPr wrap="square" lIns="0" tIns="0" rIns="0" bIns="0" rtlCol="0" anchor="t"/>
          <a:lstStyle/>
          <a:p>
            <a:pPr algn="ctr" indent="0" marL="0">
              <a:buNone/>
            </a:pPr>
            <a:r>
              <a:rPr lang="en-US" sz="1800" dirty="0">
                <a:solidFill>
                  <a:srgbClr val="93A1B0"/>
                </a:solidFill>
                <a:latin typeface="Arial" pitchFamily="34" charset="0"/>
                <a:ea typeface="Arial" pitchFamily="34" charset="-122"/>
                <a:cs typeface="Arial" pitchFamily="34" charset="-120"/>
              </a:rPr>
              <a:t>→</a:t>
            </a:r>
            <a:endParaRPr lang="en-US" sz="1800" dirty="0"/>
          </a:p>
        </p:txBody>
      </p:sp>
      <p:sp>
        <p:nvSpPr>
          <p:cNvPr id="48" name="Shape 46"/>
          <p:cNvSpPr/>
          <p:nvPr/>
        </p:nvSpPr>
        <p:spPr>
          <a:xfrm>
            <a:off x="5532120" y="2103120"/>
            <a:ext cx="2880360" cy="3291840"/>
          </a:xfrm>
          <a:prstGeom prst="roundRect">
            <a:avLst>
              <a:gd name="adj" fmla="val 2540"/>
            </a:avLst>
          </a:prstGeom>
          <a:solidFill>
            <a:srgbClr val="1B2C40"/>
          </a:solidFill>
          <a:ln w="9525">
            <a:solidFill>
              <a:srgbClr val="2A3A4E"/>
            </a:solidFill>
            <a:prstDash val="solid"/>
          </a:ln>
        </p:spPr>
      </p:sp>
      <p:sp>
        <p:nvSpPr>
          <p:cNvPr id="49" name="Text 47"/>
          <p:cNvSpPr txBox="1"/>
          <p:nvPr/>
        </p:nvSpPr>
        <p:spPr>
          <a:xfrm>
            <a:off x="5760720" y="2286000"/>
            <a:ext cx="24231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Controller: Arduino Mega</a:t>
            </a:r>
            <a:endParaRPr lang="en-US" sz="1300" dirty="0"/>
          </a:p>
        </p:txBody>
      </p:sp>
      <p:sp>
        <p:nvSpPr>
          <p:cNvPr id="50" name="Text 48"/>
          <p:cNvSpPr txBox="1"/>
          <p:nvPr/>
        </p:nvSpPr>
        <p:spPr>
          <a:xfrm>
            <a:off x="5760720" y="2670048"/>
            <a:ext cx="2468880" cy="26517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Sequence control</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Motion control (shuttle and lift)</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Stack-height logic</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Fault detection</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Throughput monitoring</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Menu, manual jog, and auto mode</a:t>
            </a:r>
            <a:endParaRPr lang="en-US" sz="1100" dirty="0"/>
          </a:p>
        </p:txBody>
      </p:sp>
      <p:sp>
        <p:nvSpPr>
          <p:cNvPr id="51" name="Text 49"/>
          <p:cNvSpPr txBox="1"/>
          <p:nvPr/>
        </p:nvSpPr>
        <p:spPr>
          <a:xfrm>
            <a:off x="8458200" y="3520440"/>
            <a:ext cx="365760" cy="365760"/>
          </a:xfrm>
          <a:prstGeom prst="rect">
            <a:avLst/>
          </a:prstGeom>
          <a:noFill/>
          <a:ln/>
        </p:spPr>
        <p:txBody>
          <a:bodyPr wrap="square" lIns="0" tIns="0" rIns="0" bIns="0" rtlCol="0" anchor="t"/>
          <a:lstStyle/>
          <a:p>
            <a:pPr algn="ctr" indent="0" marL="0">
              <a:buNone/>
            </a:pPr>
            <a:r>
              <a:rPr lang="en-US" sz="1800" dirty="0">
                <a:solidFill>
                  <a:srgbClr val="93A1B0"/>
                </a:solidFill>
                <a:latin typeface="Arial" pitchFamily="34" charset="0"/>
                <a:ea typeface="Arial" pitchFamily="34" charset="-122"/>
                <a:cs typeface="Arial" pitchFamily="34" charset="-120"/>
              </a:rPr>
              <a:t>→</a:t>
            </a:r>
            <a:endParaRPr lang="en-US" sz="1800" dirty="0"/>
          </a:p>
        </p:txBody>
      </p:sp>
      <p:sp>
        <p:nvSpPr>
          <p:cNvPr id="52" name="Shape 50"/>
          <p:cNvSpPr/>
          <p:nvPr/>
        </p:nvSpPr>
        <p:spPr>
          <a:xfrm>
            <a:off x="8869680" y="2103120"/>
            <a:ext cx="2880360" cy="3291840"/>
          </a:xfrm>
          <a:prstGeom prst="roundRect">
            <a:avLst>
              <a:gd name="adj" fmla="val 2540"/>
            </a:avLst>
          </a:prstGeom>
          <a:solidFill>
            <a:srgbClr val="172231"/>
          </a:solidFill>
          <a:ln w="9525">
            <a:solidFill>
              <a:srgbClr val="2A3A4E"/>
            </a:solidFill>
            <a:prstDash val="solid"/>
          </a:ln>
        </p:spPr>
      </p:sp>
      <p:sp>
        <p:nvSpPr>
          <p:cNvPr id="53" name="Text 51"/>
          <p:cNvSpPr txBox="1"/>
          <p:nvPr/>
        </p:nvSpPr>
        <p:spPr>
          <a:xfrm>
            <a:off x="9098280" y="2286000"/>
            <a:ext cx="242316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Outputs / Actuators</a:t>
            </a:r>
            <a:endParaRPr lang="en-US" sz="1300" dirty="0"/>
          </a:p>
        </p:txBody>
      </p:sp>
      <p:sp>
        <p:nvSpPr>
          <p:cNvPr id="54" name="Text 52"/>
          <p:cNvSpPr txBox="1"/>
          <p:nvPr/>
        </p:nvSpPr>
        <p:spPr>
          <a:xfrm>
            <a:off x="9098280" y="2670048"/>
            <a:ext cx="2468880" cy="26517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Shuttle belt drive: NEMA 23 stepper</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Shuttle translation: NEMA 23 stepper</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Platform lift: NEMA 34 stepper with brake</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Garment clamp: 2 servos</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Stack light and audio alarm</a:t>
            </a:r>
            <a:endParaRPr lang="en-US" sz="1100" dirty="0"/>
          </a:p>
        </p:txBody>
      </p:sp>
      <p:sp>
        <p:nvSpPr>
          <p:cNvPr id="55" name="Shape 53"/>
          <p:cNvSpPr/>
          <p:nvPr/>
        </p:nvSpPr>
        <p:spPr>
          <a:xfrm>
            <a:off x="2194560" y="5669280"/>
            <a:ext cx="9555480" cy="685800"/>
          </a:xfrm>
          <a:prstGeom prst="roundRect">
            <a:avLst>
              <a:gd name="adj" fmla="val 10667"/>
            </a:avLst>
          </a:prstGeom>
          <a:solidFill>
            <a:srgbClr val="172231"/>
          </a:solidFill>
          <a:ln w="9525">
            <a:solidFill>
              <a:srgbClr val="2A3A4E"/>
            </a:solidFill>
            <a:prstDash val="solid"/>
          </a:ln>
        </p:spPr>
      </p:sp>
      <p:sp>
        <p:nvSpPr>
          <p:cNvPr id="56" name="Text 54"/>
          <p:cNvSpPr txBox="1"/>
          <p:nvPr/>
        </p:nvSpPr>
        <p:spPr>
          <a:xfrm>
            <a:off x="2423160" y="5669280"/>
            <a:ext cx="9098280" cy="685800"/>
          </a:xfrm>
          <a:prstGeom prst="rect">
            <a:avLst/>
          </a:prstGeom>
          <a:noFill/>
          <a:ln/>
        </p:spPr>
        <p:txBody>
          <a:bodyPr wrap="square" lIns="0" tIns="0" rIns="0" bIns="0" rtlCol="0" anchor="ctr"/>
          <a:lstStyle/>
          <a:p>
            <a:pPr indent="0" marL="0">
              <a:buNone/>
            </a:pPr>
            <a:r>
              <a:rPr lang="en-US" sz="1150" b="1" dirty="0">
                <a:solidFill>
                  <a:srgbClr val="E8EDF2"/>
                </a:solidFill>
                <a:latin typeface="Arial" pitchFamily="34" charset="0"/>
                <a:ea typeface="Arial" pitchFamily="34" charset="-122"/>
                <a:cs typeface="Arial" pitchFamily="34" charset="-120"/>
              </a:rPr>
              <a:t>Power &amp; Safety:  </a:t>
            </a:r>
            <a:pPr indent="0" marL="0">
              <a:buNone/>
            </a:pPr>
            <a:r>
              <a:rPr lang="en-US" sz="1150" dirty="0">
                <a:solidFill>
                  <a:srgbClr val="C9D3DD"/>
                </a:solidFill>
                <a:latin typeface="Arial" pitchFamily="34" charset="0"/>
                <a:ea typeface="Arial" pitchFamily="34" charset="-122"/>
                <a:cs typeface="Arial" pitchFamily="34" charset="-120"/>
              </a:rPr>
              <a:t>120 VAC in, stepped down to 36 / 24 / 5 V. A safety relay cuts motor power on E-stop, which is a hardware stop, not just a software command.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E9BE3"/>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5</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Frame &amp; Stacking Platform Subsystem</a:t>
            </a:r>
            <a:endParaRPr lang="en-US" sz="2600" dirty="0"/>
          </a:p>
        </p:txBody>
      </p:sp>
      <p:sp>
        <p:nvSpPr>
          <p:cNvPr id="43" name="Text 41"/>
          <p:cNvSpPr txBox="1"/>
          <p:nvPr/>
        </p:nvSpPr>
        <p:spPr>
          <a:xfrm>
            <a:off x="2194560" y="1828800"/>
            <a:ext cx="51206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Purpose</a:t>
            </a:r>
            <a:endParaRPr lang="en-US" sz="1300" dirty="0"/>
          </a:p>
        </p:txBody>
      </p:sp>
      <p:sp>
        <p:nvSpPr>
          <p:cNvPr id="44" name="Text 42"/>
          <p:cNvSpPr txBox="1"/>
          <p:nvPr/>
        </p:nvSpPr>
        <p:spPr>
          <a:xfrm>
            <a:off x="2194560" y="2130552"/>
            <a:ext cx="5120640" cy="73152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Hold the stack at a constant placement height by lowering the platform as garments are added, on a rigid base that wraps around the dryer legs with no permanent installation.</a:t>
            </a:r>
            <a:endParaRPr lang="en-US" sz="1100" dirty="0"/>
          </a:p>
        </p:txBody>
      </p:sp>
      <p:sp>
        <p:nvSpPr>
          <p:cNvPr id="45" name="Text 43"/>
          <p:cNvSpPr txBox="1"/>
          <p:nvPr/>
        </p:nvSpPr>
        <p:spPr>
          <a:xfrm>
            <a:off x="2194560" y="2880360"/>
            <a:ext cx="51206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Design</a:t>
            </a:r>
            <a:endParaRPr lang="en-US" sz="1300" dirty="0"/>
          </a:p>
        </p:txBody>
      </p:sp>
      <p:sp>
        <p:nvSpPr>
          <p:cNvPr id="46" name="Text 44"/>
          <p:cNvSpPr txBox="1"/>
          <p:nvPr/>
        </p:nvSpPr>
        <p:spPr>
          <a:xfrm>
            <a:off x="2194560" y="3182112"/>
            <a:ext cx="512064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Frame: 3030 aluminum extrusion (weight and cost)</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Platform: 1012 CR steel tubing on 3060 masts</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Guidance: HGR20 linear rails and bearing blocks</a:t>
            </a:r>
            <a:endParaRPr lang="en-US" sz="1100" dirty="0"/>
          </a:p>
          <a:p>
            <a:pPr marL="152400" indent="-152400">
              <a:spcAft>
                <a:spcPts val="400"/>
              </a:spcAft>
              <a:buSzPct val="100000"/>
              <a:buChar char="•"/>
            </a:pPr>
            <a:r>
              <a:rPr lang="en-US" sz="1100" dirty="0">
                <a:solidFill>
                  <a:srgbClr val="E8EDF2"/>
                </a:solidFill>
                <a:latin typeface="Arial" pitchFamily="34" charset="0"/>
                <a:ea typeface="Arial" pitchFamily="34" charset="-122"/>
                <a:cs typeface="Arial" pitchFamily="34" charset="-120"/>
              </a:rPr>
              <a:t>Drive: belt drive, NEMA 34 with 80 N·m brake</a:t>
            </a:r>
            <a:endParaRPr lang="en-US" sz="1100" dirty="0"/>
          </a:p>
        </p:txBody>
      </p:sp>
      <p:sp>
        <p:nvSpPr>
          <p:cNvPr id="47" name="Text 45"/>
          <p:cNvSpPr txBox="1"/>
          <p:nvPr/>
        </p:nvSpPr>
        <p:spPr>
          <a:xfrm>
            <a:off x="2194560" y="4480560"/>
            <a:ext cx="51206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Alternatives Considered</a:t>
            </a:r>
            <a:endParaRPr lang="en-US" sz="1300" dirty="0"/>
          </a:p>
        </p:txBody>
      </p:sp>
      <p:sp>
        <p:nvSpPr>
          <p:cNvPr id="48" name="Text 46"/>
          <p:cNvSpPr txBox="1"/>
          <p:nvPr/>
        </p:nvSpPr>
        <p:spPr>
          <a:xfrm>
            <a:off x="2194560" y="4782312"/>
            <a:ext cx="5120640" cy="100584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Scissor lift and lead screw rejected. Scissor lifts have a nonlinear force profile and backlash at the pivots; a slight tilt in the first tier can wobble the platform over an inch. A lead screw is slower than a belt drive.</a:t>
            </a:r>
            <a:endParaRPr lang="en-US" sz="1100" dirty="0"/>
          </a:p>
        </p:txBody>
      </p:sp>
      <p:sp>
        <p:nvSpPr>
          <p:cNvPr id="49" name="Shape 47"/>
          <p:cNvSpPr/>
          <p:nvPr/>
        </p:nvSpPr>
        <p:spPr>
          <a:xfrm>
            <a:off x="7635240" y="1828800"/>
            <a:ext cx="1943100" cy="1856232"/>
          </a:xfrm>
          <a:prstGeom prst="roundRect">
            <a:avLst>
              <a:gd name="adj" fmla="val 3941"/>
            </a:avLst>
          </a:prstGeom>
          <a:solidFill>
            <a:srgbClr val="FFFFFF"/>
          </a:solidFill>
          <a:ln w="9525">
            <a:solidFill>
              <a:srgbClr val="2A3A4E"/>
            </a:solidFill>
            <a:prstDash val="solid"/>
          </a:ln>
        </p:spPr>
      </p:sp>
      <p:pic>
        <p:nvPicPr>
          <p:cNvPr id="50" name="Image 0" descr="tshirt-stacker/images/frame.png">    </p:cNvPr>
          <p:cNvPicPr>
            <a:picLocks noChangeAspect="1"/>
          </p:cNvPicPr>
          <p:nvPr/>
        </p:nvPicPr>
        <p:blipFill>
          <a:blip r:embed="rId1"/>
          <a:stretch>
            <a:fillRect/>
          </a:stretch>
        </p:blipFill>
        <p:spPr>
          <a:xfrm>
            <a:off x="7744968" y="2116102"/>
            <a:ext cx="1723644" cy="1281628"/>
          </a:xfrm>
          <a:prstGeom prst="rect">
            <a:avLst/>
          </a:prstGeom>
        </p:spPr>
      </p:pic>
      <p:sp>
        <p:nvSpPr>
          <p:cNvPr id="51" name="Text 48"/>
          <p:cNvSpPr txBox="1"/>
          <p:nvPr/>
        </p:nvSpPr>
        <p:spPr>
          <a:xfrm>
            <a:off x="7635240" y="3739896"/>
            <a:ext cx="19431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3030 aluminum frame</a:t>
            </a:r>
            <a:endParaRPr lang="en-US" sz="900" dirty="0"/>
          </a:p>
        </p:txBody>
      </p:sp>
      <p:sp>
        <p:nvSpPr>
          <p:cNvPr id="52" name="Shape 49"/>
          <p:cNvSpPr/>
          <p:nvPr/>
        </p:nvSpPr>
        <p:spPr>
          <a:xfrm>
            <a:off x="9806940" y="1828800"/>
            <a:ext cx="1943100" cy="1856232"/>
          </a:xfrm>
          <a:prstGeom prst="roundRect">
            <a:avLst>
              <a:gd name="adj" fmla="val 3941"/>
            </a:avLst>
          </a:prstGeom>
          <a:solidFill>
            <a:srgbClr val="FFFFFF"/>
          </a:solidFill>
          <a:ln w="9525">
            <a:solidFill>
              <a:srgbClr val="2A3A4E"/>
            </a:solidFill>
            <a:prstDash val="solid"/>
          </a:ln>
        </p:spPr>
      </p:sp>
      <p:pic>
        <p:nvPicPr>
          <p:cNvPr id="53" name="Image 1" descr="tshirt-stacker/images/lift-platform.png">    </p:cNvPr>
          <p:cNvPicPr>
            <a:picLocks noChangeAspect="1"/>
          </p:cNvPicPr>
          <p:nvPr/>
        </p:nvPicPr>
        <p:blipFill>
          <a:blip r:embed="rId2"/>
          <a:stretch>
            <a:fillRect/>
          </a:stretch>
        </p:blipFill>
        <p:spPr>
          <a:xfrm>
            <a:off x="9916668" y="2017129"/>
            <a:ext cx="1723644" cy="1479573"/>
          </a:xfrm>
          <a:prstGeom prst="rect">
            <a:avLst/>
          </a:prstGeom>
        </p:spPr>
      </p:pic>
      <p:sp>
        <p:nvSpPr>
          <p:cNvPr id="54" name="Text 50"/>
          <p:cNvSpPr txBox="1"/>
          <p:nvPr/>
        </p:nvSpPr>
        <p:spPr>
          <a:xfrm>
            <a:off x="9806940" y="3739896"/>
            <a:ext cx="19431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Lift platform carriage</a:t>
            </a:r>
            <a:endParaRPr lang="en-US" sz="900" dirty="0"/>
          </a:p>
        </p:txBody>
      </p:sp>
      <p:sp>
        <p:nvSpPr>
          <p:cNvPr id="55" name="Shape 51"/>
          <p:cNvSpPr/>
          <p:nvPr/>
        </p:nvSpPr>
        <p:spPr>
          <a:xfrm>
            <a:off x="7635240" y="4114800"/>
            <a:ext cx="1943100" cy="1627632"/>
          </a:xfrm>
          <a:prstGeom prst="roundRect">
            <a:avLst>
              <a:gd name="adj" fmla="val 4494"/>
            </a:avLst>
          </a:prstGeom>
          <a:solidFill>
            <a:srgbClr val="FFFFFF"/>
          </a:solidFill>
          <a:ln w="9525">
            <a:solidFill>
              <a:srgbClr val="2A3A4E"/>
            </a:solidFill>
            <a:prstDash val="solid"/>
          </a:ln>
        </p:spPr>
      </p:sp>
      <p:pic>
        <p:nvPicPr>
          <p:cNvPr id="56" name="Image 2" descr="tshirt-stacker/images/lift-drive.png">    </p:cNvPr>
          <p:cNvPicPr>
            <a:picLocks noChangeAspect="1"/>
          </p:cNvPicPr>
          <p:nvPr/>
        </p:nvPicPr>
        <p:blipFill>
          <a:blip r:embed="rId3"/>
          <a:stretch>
            <a:fillRect/>
          </a:stretch>
        </p:blipFill>
        <p:spPr>
          <a:xfrm>
            <a:off x="7744968" y="4424382"/>
            <a:ext cx="1723644" cy="1008467"/>
          </a:xfrm>
          <a:prstGeom prst="rect">
            <a:avLst/>
          </a:prstGeom>
        </p:spPr>
      </p:pic>
      <p:sp>
        <p:nvSpPr>
          <p:cNvPr id="57" name="Text 52"/>
          <p:cNvSpPr txBox="1"/>
          <p:nvPr/>
        </p:nvSpPr>
        <p:spPr>
          <a:xfrm>
            <a:off x="7635240" y="5797296"/>
            <a:ext cx="19431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NEMA 34 lift drive + brake</a:t>
            </a:r>
            <a:endParaRPr lang="en-US" sz="900" dirty="0"/>
          </a:p>
        </p:txBody>
      </p:sp>
      <p:sp>
        <p:nvSpPr>
          <p:cNvPr id="58" name="Shape 53"/>
          <p:cNvSpPr/>
          <p:nvPr/>
        </p:nvSpPr>
        <p:spPr>
          <a:xfrm>
            <a:off x="9806940" y="4114800"/>
            <a:ext cx="1943100" cy="1627632"/>
          </a:xfrm>
          <a:prstGeom prst="roundRect">
            <a:avLst>
              <a:gd name="adj" fmla="val 4494"/>
            </a:avLst>
          </a:prstGeom>
          <a:solidFill>
            <a:srgbClr val="FFFFFF"/>
          </a:solidFill>
          <a:ln w="9525">
            <a:solidFill>
              <a:srgbClr val="2A3A4E"/>
            </a:solidFill>
            <a:prstDash val="solid"/>
          </a:ln>
        </p:spPr>
      </p:sp>
      <p:pic>
        <p:nvPicPr>
          <p:cNvPr id="59" name="Image 3" descr="tshirt-stacker/images/lift-mast.png">    </p:cNvPr>
          <p:cNvPicPr>
            <a:picLocks noChangeAspect="1"/>
          </p:cNvPicPr>
          <p:nvPr/>
        </p:nvPicPr>
        <p:blipFill>
          <a:blip r:embed="rId4"/>
          <a:stretch>
            <a:fillRect/>
          </a:stretch>
        </p:blipFill>
        <p:spPr>
          <a:xfrm>
            <a:off x="9916668" y="4291141"/>
            <a:ext cx="1723644" cy="1274949"/>
          </a:xfrm>
          <a:prstGeom prst="rect">
            <a:avLst/>
          </a:prstGeom>
        </p:spPr>
      </p:pic>
      <p:sp>
        <p:nvSpPr>
          <p:cNvPr id="60" name="Text 54"/>
          <p:cNvSpPr txBox="1"/>
          <p:nvPr/>
        </p:nvSpPr>
        <p:spPr>
          <a:xfrm>
            <a:off x="9806940" y="5797296"/>
            <a:ext cx="19431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Lift mast and carriage</a:t>
            </a:r>
            <a:endParaRPr lang="en-US" sz="900" dirty="0"/>
          </a:p>
        </p:txBody>
      </p:sp>
      <p:sp>
        <p:nvSpPr>
          <p:cNvPr id="61" name="Text 55"/>
          <p:cNvSpPr txBox="1"/>
          <p:nvPr/>
        </p:nvSpPr>
        <p:spPr>
          <a:xfrm>
            <a:off x="7635240" y="6144768"/>
            <a:ext cx="4114800" cy="228600"/>
          </a:xfrm>
          <a:prstGeom prst="rect">
            <a:avLst/>
          </a:prstGeom>
          <a:noFill/>
          <a:ln/>
        </p:spPr>
        <p:txBody>
          <a:bodyPr wrap="square" lIns="0" tIns="0" rIns="0" bIns="0" rtlCol="0" anchor="t"/>
          <a:lstStyle/>
          <a:p>
            <a:pPr indent="0" marL="0">
              <a:buNone/>
            </a:pPr>
            <a:r>
              <a:rPr lang="en-US" sz="900" i="1" dirty="0">
                <a:solidFill>
                  <a:srgbClr val="93A1B0"/>
                </a:solidFill>
                <a:latin typeface="Arial" pitchFamily="34" charset="0"/>
                <a:ea typeface="Arial" pitchFamily="34" charset="-122"/>
                <a:cs typeface="Arial" pitchFamily="34" charset="-120"/>
              </a:rPr>
              <a:t>Page also includes: full analysis results table (next slide) and lift-speed-curve.png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E9BE3"/>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5</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Frame &amp; Stacking Platform: Analysis Results</a:t>
            </a:r>
            <a:endParaRPr lang="en-US" sz="2600" dirty="0"/>
          </a:p>
        </p:txBody>
      </p:sp>
      <p:sp>
        <p:nvSpPr>
          <p:cNvPr id="43" name="Text 41"/>
          <p:cNvSpPr txBox="1"/>
          <p:nvPr/>
        </p:nvSpPr>
        <p:spPr>
          <a:xfrm>
            <a:off x="2194560" y="1627632"/>
            <a:ext cx="955548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Rendered as a table on the same section of the page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194560" y="2011680"/>
          <a:ext cx="6035040" cy="914400"/>
        </p:xfrm>
        <a:graphic>
          <a:graphicData uri="http://schemas.openxmlformats.org/drawingml/2006/table">
            <a:tbl>
              <a:tblPr/>
              <a:tblGrid>
                <a:gridCol w="1554480"/>
                <a:gridCol w="2651760"/>
                <a:gridCol w="1828800"/>
              </a:tblGrid>
              <a:tr h="384048">
                <a:tc>
                  <a:txBody>
                    <a:bodyPr/>
                    <a:lstStyle/>
                    <a:p>
                      <a:pPr indent="0" marL="0">
                        <a:buNone/>
                      </a:pPr>
                      <a:r>
                        <a:rPr lang="en-US" sz="1000" b="1" dirty="0">
                          <a:solidFill>
                            <a:srgbClr val="E8EDF2"/>
                          </a:solidFill>
                          <a:latin typeface="Arial" pitchFamily="34" charset="0"/>
                          <a:ea typeface="Arial" pitchFamily="34" charset="-122"/>
                          <a:cs typeface="Arial" pitchFamily="34" charset="-120"/>
                        </a:rPr>
                        <a:t>Check</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1000" b="1" dirty="0">
                          <a:solidFill>
                            <a:srgbClr val="E8EDF2"/>
                          </a:solidFill>
                          <a:latin typeface="Arial" pitchFamily="34" charset="0"/>
                          <a:ea typeface="Arial" pitchFamily="34" charset="-122"/>
                          <a:cs typeface="Arial" pitchFamily="34" charset="-120"/>
                        </a:rPr>
                        <a:t>Method / Load case</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1000" b="1" dirty="0">
                          <a:solidFill>
                            <a:srgbClr val="E8EDF2"/>
                          </a:solidFill>
                          <a:latin typeface="Arial" pitchFamily="34" charset="0"/>
                          <a:ea typeface="Arial" pitchFamily="34" charset="-122"/>
                          <a:cs typeface="Arial" pitchFamily="34" charset="-120"/>
                        </a:rPr>
                        <a:t>Result</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Platform deflection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Euler–Bernoulli; 75 lb dead + 150 lb garments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&lt; 0.1 in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Frame deflection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1,000 lb distributed load</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&lt; 0.12 in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Linear bearings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HGR20 blocks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6,240 lb static / 3,990 lb dynamic</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Fasteners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M6 class 8.8; steel into aluminum</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No failure or hole elongation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Machine walking</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400 lb machine, 50 lb shuttle at 271.9 in/s²</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Stays put</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Lift speed</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Full-stack lift</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&lt; 10 s, motor in safe RPM range</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Shaft torsion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Brake engagement at power loss; 4340 steel</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Shear stress well below yield</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84048">
                <a:tc>
                  <a:txBody>
                    <a:bodyPr/>
                    <a:lstStyle/>
                    <a:p>
                      <a:pPr indent="0" marL="0">
                        <a:buNone/>
                      </a:pPr>
                      <a:r>
                        <a:rPr lang="en-US" sz="1000" dirty="0">
                          <a:solidFill>
                            <a:srgbClr val="C9D3DD"/>
                          </a:solidFill>
                          <a:latin typeface="Arial" pitchFamily="34" charset="0"/>
                          <a:ea typeface="Arial" pitchFamily="34" charset="-122"/>
                          <a:cs typeface="Arial" pitchFamily="34" charset="-120"/>
                        </a:rPr>
                        <a:t>Belts, bushings, keys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Power failure + emergency brake</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Adequate factor of safety</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bl>
          </a:graphicData>
        </a:graphic>
      </p:graphicFrame>
      <p:sp>
        <p:nvSpPr>
          <p:cNvPr id="45" name="Shape 42"/>
          <p:cNvSpPr/>
          <p:nvPr/>
        </p:nvSpPr>
        <p:spPr>
          <a:xfrm>
            <a:off x="8549640" y="2011680"/>
            <a:ext cx="3200400" cy="1901952"/>
          </a:xfrm>
          <a:prstGeom prst="roundRect">
            <a:avLst>
              <a:gd name="adj" fmla="val 3846"/>
            </a:avLst>
          </a:prstGeom>
          <a:solidFill>
            <a:srgbClr val="FFFFFF"/>
          </a:solidFill>
          <a:ln w="9525">
            <a:solidFill>
              <a:srgbClr val="2A3A4E"/>
            </a:solidFill>
            <a:prstDash val="solid"/>
          </a:ln>
        </p:spPr>
      </p:sp>
      <p:pic>
        <p:nvPicPr>
          <p:cNvPr id="46" name="Image 0" descr="tshirt-stacker/images/lift-speed-curve.png">    </p:cNvPr>
          <p:cNvPicPr>
            <a:picLocks noChangeAspect="1"/>
          </p:cNvPicPr>
          <p:nvPr/>
        </p:nvPicPr>
        <p:blipFill>
          <a:blip r:embed="rId1"/>
          <a:stretch>
            <a:fillRect/>
          </a:stretch>
        </p:blipFill>
        <p:spPr>
          <a:xfrm>
            <a:off x="8659368" y="2391016"/>
            <a:ext cx="2980944" cy="1143280"/>
          </a:xfrm>
          <a:prstGeom prst="rect">
            <a:avLst/>
          </a:prstGeom>
        </p:spPr>
      </p:pic>
      <p:sp>
        <p:nvSpPr>
          <p:cNvPr id="47" name="Text 43"/>
          <p:cNvSpPr txBox="1"/>
          <p:nvPr/>
        </p:nvSpPr>
        <p:spPr>
          <a:xfrm>
            <a:off x="8549640" y="3968496"/>
            <a:ext cx="32004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Lift motor speed vs. torque check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E9BE3"/>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6</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Shuttling Conveyor Subsystem</a:t>
            </a:r>
            <a:endParaRPr lang="en-US" sz="2600" dirty="0"/>
          </a:p>
        </p:txBody>
      </p:sp>
      <p:sp>
        <p:nvSpPr>
          <p:cNvPr id="43" name="Text 41"/>
          <p:cNvSpPr txBox="1"/>
          <p:nvPr/>
        </p:nvSpPr>
        <p:spPr>
          <a:xfrm>
            <a:off x="2194560" y="1828800"/>
            <a:ext cx="46634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Purpose</a:t>
            </a:r>
            <a:endParaRPr lang="en-US" sz="1300" dirty="0"/>
          </a:p>
        </p:txBody>
      </p:sp>
      <p:sp>
        <p:nvSpPr>
          <p:cNvPr id="44" name="Text 42"/>
          <p:cNvSpPr txBox="1"/>
          <p:nvPr/>
        </p:nvSpPr>
        <p:spPr>
          <a:xfrm>
            <a:off x="2194560" y="2130552"/>
            <a:ext cx="4663440" cy="777240"/>
          </a:xfrm>
          <a:prstGeom prst="rect">
            <a:avLst/>
          </a:prstGeom>
          <a:noFill/>
          <a:ln/>
        </p:spPr>
        <p:txBody>
          <a:bodyPr wrap="square" lIns="0" tIns="0" rIns="0" bIns="0" rtlCol="0" anchor="t"/>
          <a:lstStyle/>
          <a:p>
            <a:pPr indent="0" marL="0">
              <a:lnSpc>
                <a:spcPct val="115000"/>
              </a:lnSpc>
              <a:buNone/>
            </a:pPr>
            <a:r>
              <a:rPr lang="en-US" sz="1100" dirty="0">
                <a:solidFill>
                  <a:srgbClr val="C9D3DD"/>
                </a:solidFill>
                <a:latin typeface="Arial" pitchFamily="34" charset="0"/>
                <a:ea typeface="Arial" pitchFamily="34" charset="-122"/>
                <a:cs typeface="Arial" pitchFamily="34" charset="-120"/>
              </a:rPr>
              <a:t>Receive each garment as it rolls off the dryer, carry it over the stack, and deposit it flat. Translating and conveying at the same time is what makes controlled placement possible.</a:t>
            </a:r>
            <a:endParaRPr lang="en-US" sz="1100" dirty="0"/>
          </a:p>
        </p:txBody>
      </p:sp>
      <p:sp>
        <p:nvSpPr>
          <p:cNvPr id="45" name="Text 43"/>
          <p:cNvSpPr txBox="1"/>
          <p:nvPr/>
        </p:nvSpPr>
        <p:spPr>
          <a:xfrm>
            <a:off x="2194560" y="3017520"/>
            <a:ext cx="46634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Design</a:t>
            </a:r>
            <a:endParaRPr lang="en-US" sz="1300" dirty="0"/>
          </a:p>
        </p:txBody>
      </p:sp>
      <p:sp>
        <p:nvSpPr>
          <p:cNvPr id="46" name="Text 44"/>
          <p:cNvSpPr txBox="1"/>
          <p:nvPr/>
        </p:nvSpPr>
        <p:spPr>
          <a:xfrm>
            <a:off x="2194560" y="3319272"/>
            <a:ext cx="4663440" cy="292608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E8EDF2"/>
                </a:solidFill>
                <a:latin typeface="Arial" pitchFamily="34" charset="0"/>
                <a:ea typeface="Arial" pitchFamily="34" charset="-122"/>
                <a:cs typeface="Arial" pitchFamily="34" charset="-120"/>
              </a:rPr>
              <a:t>Two drives: belt conveying (NEMA 23) and shuttle translation (NEMA 23, belt and pulley)</a:t>
            </a:r>
            <a:endParaRPr lang="en-US" sz="1100" dirty="0"/>
          </a:p>
          <a:p>
            <a:pPr marL="152400" indent="-152400">
              <a:spcAft>
                <a:spcPts val="600"/>
              </a:spcAft>
              <a:buSzPct val="100000"/>
              <a:buChar char="•"/>
            </a:pPr>
            <a:r>
              <a:rPr lang="en-US" sz="1100" dirty="0">
                <a:solidFill>
                  <a:srgbClr val="E8EDF2"/>
                </a:solidFill>
                <a:latin typeface="Arial" pitchFamily="34" charset="0"/>
                <a:ea typeface="Arial" pitchFamily="34" charset="-122"/>
                <a:cs typeface="Arial" pitchFamily="34" charset="-120"/>
              </a:rPr>
              <a:t>Rollers: crowning, live vs. dead axle, buy vs. make evaluated</a:t>
            </a:r>
            <a:endParaRPr lang="en-US" sz="1100" dirty="0"/>
          </a:p>
          <a:p>
            <a:pPr marL="152400" indent="-152400">
              <a:spcAft>
                <a:spcPts val="600"/>
              </a:spcAft>
              <a:buSzPct val="100000"/>
              <a:buChar char="•"/>
            </a:pPr>
            <a:r>
              <a:rPr lang="en-US" sz="1100" dirty="0">
                <a:solidFill>
                  <a:srgbClr val="E8EDF2"/>
                </a:solidFill>
                <a:latin typeface="Arial" pitchFamily="34" charset="0"/>
                <a:ea typeface="Arial" pitchFamily="34" charset="-122"/>
                <a:cs typeface="Arial" pitchFamily="34" charset="-120"/>
              </a:rPr>
              <a:t>Belt tensioning built into the roller mounts</a:t>
            </a:r>
            <a:endParaRPr lang="en-US" sz="1100" dirty="0"/>
          </a:p>
          <a:p>
            <a:pPr marL="152400" indent="-152400">
              <a:spcAft>
                <a:spcPts val="600"/>
              </a:spcAft>
              <a:buSzPct val="100000"/>
              <a:buChar char="•"/>
            </a:pPr>
            <a:r>
              <a:rPr lang="en-US" sz="1100" dirty="0">
                <a:solidFill>
                  <a:srgbClr val="E8EDF2"/>
                </a:solidFill>
                <a:latin typeface="Arial" pitchFamily="34" charset="0"/>
                <a:ea typeface="Arial" pitchFamily="34" charset="-122"/>
                <a:cs typeface="Arial" pitchFamily="34" charset="-120"/>
              </a:rPr>
              <a:t>Garment clamp: 2 servos sized for 1.25 lb upward resistance with high FoS</a:t>
            </a:r>
            <a:endParaRPr lang="en-US" sz="1100" dirty="0"/>
          </a:p>
          <a:p>
            <a:pPr marL="152400" indent="-152400">
              <a:spcAft>
                <a:spcPts val="600"/>
              </a:spcAft>
              <a:buSzPct val="100000"/>
              <a:buChar char="•"/>
            </a:pPr>
            <a:r>
              <a:rPr lang="en-US" sz="1100" dirty="0">
                <a:solidFill>
                  <a:srgbClr val="E8EDF2"/>
                </a:solidFill>
                <a:latin typeface="Arial" pitchFamily="34" charset="0"/>
                <a:ea typeface="Arial" pitchFamily="34" charset="-122"/>
                <a:cs typeface="Arial" pitchFamily="34" charset="-120"/>
              </a:rPr>
              <a:t>Inertia, acceleration torque, and speed checked against motor torque curves</a:t>
            </a:r>
            <a:endParaRPr lang="en-US" sz="1100" dirty="0"/>
          </a:p>
        </p:txBody>
      </p:sp>
      <p:sp>
        <p:nvSpPr>
          <p:cNvPr id="47" name="Shape 45"/>
          <p:cNvSpPr/>
          <p:nvPr/>
        </p:nvSpPr>
        <p:spPr>
          <a:xfrm>
            <a:off x="7178040" y="1828800"/>
            <a:ext cx="4572000" cy="2084832"/>
          </a:xfrm>
          <a:prstGeom prst="roundRect">
            <a:avLst>
              <a:gd name="adj" fmla="val 3509"/>
            </a:avLst>
          </a:prstGeom>
          <a:solidFill>
            <a:srgbClr val="FFFFFF"/>
          </a:solidFill>
          <a:ln w="9525">
            <a:solidFill>
              <a:srgbClr val="2A3A4E"/>
            </a:solidFill>
            <a:prstDash val="solid"/>
          </a:ln>
        </p:spPr>
      </p:sp>
      <p:pic>
        <p:nvPicPr>
          <p:cNvPr id="48" name="Image 0" descr="tshirt-stacker/images/shuttle-conveyor.png">    </p:cNvPr>
          <p:cNvPicPr>
            <a:picLocks noChangeAspect="1"/>
          </p:cNvPicPr>
          <p:nvPr/>
        </p:nvPicPr>
        <p:blipFill>
          <a:blip r:embed="rId1"/>
          <a:stretch>
            <a:fillRect/>
          </a:stretch>
        </p:blipFill>
        <p:spPr>
          <a:xfrm>
            <a:off x="8069656" y="1938528"/>
            <a:ext cx="2788768" cy="1865376"/>
          </a:xfrm>
          <a:prstGeom prst="rect">
            <a:avLst/>
          </a:prstGeom>
        </p:spPr>
      </p:pic>
      <p:sp>
        <p:nvSpPr>
          <p:cNvPr id="49" name="Text 46"/>
          <p:cNvSpPr txBox="1"/>
          <p:nvPr/>
        </p:nvSpPr>
        <p:spPr>
          <a:xfrm>
            <a:off x="7178040" y="3968496"/>
            <a:ext cx="4572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Shuttling conveyor assembly</a:t>
            </a:r>
            <a:endParaRPr lang="en-US" sz="900" dirty="0"/>
          </a:p>
        </p:txBody>
      </p:sp>
      <p:sp>
        <p:nvSpPr>
          <p:cNvPr id="50" name="Shape 47"/>
          <p:cNvSpPr/>
          <p:nvPr/>
        </p:nvSpPr>
        <p:spPr>
          <a:xfrm>
            <a:off x="7178040" y="4343400"/>
            <a:ext cx="2171700" cy="713232"/>
          </a:xfrm>
          <a:prstGeom prst="roundRect">
            <a:avLst>
              <a:gd name="adj" fmla="val 10256"/>
            </a:avLst>
          </a:prstGeom>
          <a:solidFill>
            <a:srgbClr val="FFFFFF"/>
          </a:solidFill>
          <a:ln w="9525">
            <a:solidFill>
              <a:srgbClr val="2A3A4E"/>
            </a:solidFill>
            <a:prstDash val="solid"/>
          </a:ln>
        </p:spPr>
      </p:sp>
      <p:pic>
        <p:nvPicPr>
          <p:cNvPr id="51" name="Image 1" descr="tshirt-stacker/images/belt-drive.png">    </p:cNvPr>
          <p:cNvPicPr>
            <a:picLocks noChangeAspect="1"/>
          </p:cNvPicPr>
          <p:nvPr/>
        </p:nvPicPr>
        <p:blipFill>
          <a:blip r:embed="rId2"/>
          <a:stretch>
            <a:fillRect/>
          </a:stretch>
        </p:blipFill>
        <p:spPr>
          <a:xfrm>
            <a:off x="7872694" y="4453128"/>
            <a:ext cx="782392" cy="493776"/>
          </a:xfrm>
          <a:prstGeom prst="rect">
            <a:avLst/>
          </a:prstGeom>
        </p:spPr>
      </p:pic>
      <p:sp>
        <p:nvSpPr>
          <p:cNvPr id="52" name="Text 48"/>
          <p:cNvSpPr txBox="1"/>
          <p:nvPr/>
        </p:nvSpPr>
        <p:spPr>
          <a:xfrm>
            <a:off x="7178040" y="5111496"/>
            <a:ext cx="21717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Belt drive</a:t>
            </a:r>
            <a:endParaRPr lang="en-US" sz="900" dirty="0"/>
          </a:p>
        </p:txBody>
      </p:sp>
      <p:sp>
        <p:nvSpPr>
          <p:cNvPr id="53" name="Shape 49"/>
          <p:cNvSpPr/>
          <p:nvPr/>
        </p:nvSpPr>
        <p:spPr>
          <a:xfrm>
            <a:off x="9578340" y="4343400"/>
            <a:ext cx="2171700" cy="713232"/>
          </a:xfrm>
          <a:prstGeom prst="roundRect">
            <a:avLst>
              <a:gd name="adj" fmla="val 10256"/>
            </a:avLst>
          </a:prstGeom>
          <a:solidFill>
            <a:srgbClr val="FFFFFF"/>
          </a:solidFill>
          <a:ln w="9525">
            <a:solidFill>
              <a:srgbClr val="2A3A4E"/>
            </a:solidFill>
            <a:prstDash val="solid"/>
          </a:ln>
        </p:spPr>
      </p:sp>
      <p:pic>
        <p:nvPicPr>
          <p:cNvPr id="54" name="Image 2" descr="tshirt-stacker/images/belt-tensioner.png">    </p:cNvPr>
          <p:cNvPicPr>
            <a:picLocks noChangeAspect="1"/>
          </p:cNvPicPr>
          <p:nvPr/>
        </p:nvPicPr>
        <p:blipFill>
          <a:blip r:embed="rId3"/>
          <a:stretch>
            <a:fillRect/>
          </a:stretch>
        </p:blipFill>
        <p:spPr>
          <a:xfrm>
            <a:off x="10253850" y="4453128"/>
            <a:ext cx="820680" cy="493776"/>
          </a:xfrm>
          <a:prstGeom prst="rect">
            <a:avLst/>
          </a:prstGeom>
        </p:spPr>
      </p:pic>
      <p:sp>
        <p:nvSpPr>
          <p:cNvPr id="55" name="Text 50"/>
          <p:cNvSpPr txBox="1"/>
          <p:nvPr/>
        </p:nvSpPr>
        <p:spPr>
          <a:xfrm>
            <a:off x="9578340" y="5111496"/>
            <a:ext cx="21717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Belt tensioner</a:t>
            </a:r>
            <a:endParaRPr lang="en-US" sz="900" dirty="0"/>
          </a:p>
        </p:txBody>
      </p:sp>
      <p:sp>
        <p:nvSpPr>
          <p:cNvPr id="56" name="Shape 51"/>
          <p:cNvSpPr/>
          <p:nvPr/>
        </p:nvSpPr>
        <p:spPr>
          <a:xfrm>
            <a:off x="7178040" y="5440680"/>
            <a:ext cx="2171700" cy="667512"/>
          </a:xfrm>
          <a:prstGeom prst="roundRect">
            <a:avLst>
              <a:gd name="adj" fmla="val 10959"/>
            </a:avLst>
          </a:prstGeom>
          <a:solidFill>
            <a:srgbClr val="FFFFFF"/>
          </a:solidFill>
          <a:ln w="9525">
            <a:solidFill>
              <a:srgbClr val="2A3A4E"/>
            </a:solidFill>
            <a:prstDash val="solid"/>
          </a:ln>
        </p:spPr>
      </p:sp>
      <p:pic>
        <p:nvPicPr>
          <p:cNvPr id="57" name="Image 3" descr="tshirt-stacker/images/shuttle-assembly.png">    </p:cNvPr>
          <p:cNvPicPr>
            <a:picLocks noChangeAspect="1"/>
          </p:cNvPicPr>
          <p:nvPr/>
        </p:nvPicPr>
        <p:blipFill>
          <a:blip r:embed="rId4"/>
          <a:stretch>
            <a:fillRect/>
          </a:stretch>
        </p:blipFill>
        <p:spPr>
          <a:xfrm>
            <a:off x="7610324" y="5550408"/>
            <a:ext cx="1307133" cy="448056"/>
          </a:xfrm>
          <a:prstGeom prst="rect">
            <a:avLst/>
          </a:prstGeom>
        </p:spPr>
      </p:pic>
      <p:sp>
        <p:nvSpPr>
          <p:cNvPr id="58" name="Text 52"/>
          <p:cNvSpPr txBox="1"/>
          <p:nvPr/>
        </p:nvSpPr>
        <p:spPr>
          <a:xfrm>
            <a:off x="7178040" y="6163056"/>
            <a:ext cx="21717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Shuttle on rails</a:t>
            </a:r>
            <a:endParaRPr lang="en-US" sz="900" dirty="0"/>
          </a:p>
        </p:txBody>
      </p:sp>
      <p:sp>
        <p:nvSpPr>
          <p:cNvPr id="59" name="Shape 53"/>
          <p:cNvSpPr/>
          <p:nvPr/>
        </p:nvSpPr>
        <p:spPr>
          <a:xfrm>
            <a:off x="9578340" y="5440680"/>
            <a:ext cx="2171700" cy="667512"/>
          </a:xfrm>
          <a:prstGeom prst="roundRect">
            <a:avLst>
              <a:gd name="adj" fmla="val 10959"/>
            </a:avLst>
          </a:prstGeom>
          <a:solidFill>
            <a:srgbClr val="FFFFFF"/>
          </a:solidFill>
          <a:ln w="9525">
            <a:solidFill>
              <a:srgbClr val="2A3A4E"/>
            </a:solidFill>
            <a:prstDash val="solid"/>
          </a:ln>
        </p:spPr>
      </p:sp>
      <p:pic>
        <p:nvPicPr>
          <p:cNvPr id="60" name="Image 4" descr="tshirt-stacker/images/roller.png">    </p:cNvPr>
          <p:cNvPicPr>
            <a:picLocks noChangeAspect="1"/>
          </p:cNvPicPr>
          <p:nvPr/>
        </p:nvPicPr>
        <p:blipFill>
          <a:blip r:embed="rId5"/>
          <a:stretch>
            <a:fillRect/>
          </a:stretch>
        </p:blipFill>
        <p:spPr>
          <a:xfrm>
            <a:off x="9688068" y="5566197"/>
            <a:ext cx="1952244" cy="416479"/>
          </a:xfrm>
          <a:prstGeom prst="rect">
            <a:avLst/>
          </a:prstGeom>
        </p:spPr>
      </p:pic>
      <p:sp>
        <p:nvSpPr>
          <p:cNvPr id="61" name="Text 54"/>
          <p:cNvSpPr txBox="1"/>
          <p:nvPr/>
        </p:nvSpPr>
        <p:spPr>
          <a:xfrm>
            <a:off x="9578340" y="6163056"/>
            <a:ext cx="21717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Conveyor roller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E9BE3"/>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7</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Motion &amp; Timing Analysis</a:t>
            </a:r>
            <a:endParaRPr lang="en-US" sz="2600" dirty="0"/>
          </a:p>
        </p:txBody>
      </p:sp>
      <p:sp>
        <p:nvSpPr>
          <p:cNvPr id="43" name="Text 41"/>
          <p:cNvSpPr txBox="1"/>
          <p:nvPr/>
        </p:nvSpPr>
        <p:spPr>
          <a:xfrm>
            <a:off x="2194560" y="1627632"/>
            <a:ext cx="955548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Built from a custom cycle-timing and motor-sizing calculator</a:t>
            </a:r>
            <a:endParaRPr lang="en-US" sz="1300" dirty="0"/>
          </a:p>
        </p:txBody>
      </p:sp>
      <p:sp>
        <p:nvSpPr>
          <p:cNvPr id="44" name="Text 42"/>
          <p:cNvSpPr txBox="1"/>
          <p:nvPr/>
        </p:nvSpPr>
        <p:spPr>
          <a:xfrm>
            <a:off x="2194560" y="2011680"/>
            <a:ext cx="9555480" cy="274320"/>
          </a:xfrm>
          <a:prstGeom prst="rect">
            <a:avLst/>
          </a:prstGeom>
          <a:noFill/>
          <a:ln/>
        </p:spPr>
        <p:txBody>
          <a:bodyPr wrap="square" lIns="0" tIns="0" rIns="0" bIns="0" rtlCol="0" anchor="t"/>
          <a:lstStyle/>
          <a:p>
            <a:pPr indent="0" marL="0">
              <a:buNone/>
            </a:pPr>
            <a:r>
              <a:rPr lang="en-US" sz="1300" b="1" dirty="0">
                <a:solidFill>
                  <a:srgbClr val="1E9BE3"/>
                </a:solidFill>
                <a:latin typeface="Arial" pitchFamily="34" charset="0"/>
                <a:ea typeface="Arial" pitchFamily="34" charset="-122"/>
                <a:cs typeface="Arial" pitchFamily="34" charset="-120"/>
              </a:rPr>
              <a:t>18 s cycle</a:t>
            </a:r>
            <a:pPr indent="0" marL="0">
              <a:buNone/>
            </a:pPr>
            <a:r>
              <a:rPr lang="en-US" sz="1300" dirty="0">
                <a:solidFill>
                  <a:srgbClr val="C9D3DD"/>
                </a:solidFill>
                <a:latin typeface="Arial" pitchFamily="34" charset="0"/>
                <a:ea typeface="Arial" pitchFamily="34" charset="-122"/>
                <a:cs typeface="Arial" pitchFamily="34" charset="-120"/>
              </a:rPr>
              <a:t>  per garment at 200/hr, split into five motion phases</a:t>
            </a:r>
            <a:endParaRPr lang="en-US" sz="1300" dirty="0"/>
          </a:p>
        </p:txBody>
      </p:sp>
      <p:sp>
        <p:nvSpPr>
          <p:cNvPr id="45" name="Shape 43"/>
          <p:cNvSpPr/>
          <p:nvPr/>
        </p:nvSpPr>
        <p:spPr>
          <a:xfrm>
            <a:off x="2194560" y="2423160"/>
            <a:ext cx="4076700" cy="822960"/>
          </a:xfrm>
          <a:prstGeom prst="roundRect">
            <a:avLst>
              <a:gd name="adj" fmla="val 6667"/>
            </a:avLst>
          </a:prstGeom>
          <a:solidFill>
            <a:srgbClr val="1F2D3F"/>
          </a:solidFill>
          <a:ln w="9525">
            <a:solidFill>
              <a:srgbClr val="2A3A4E"/>
            </a:solidFill>
            <a:prstDash val="solid"/>
          </a:ln>
        </p:spPr>
      </p:sp>
      <p:sp>
        <p:nvSpPr>
          <p:cNvPr id="46" name="Text 44"/>
          <p:cNvSpPr txBox="1"/>
          <p:nvPr/>
        </p:nvSpPr>
        <p:spPr>
          <a:xfrm>
            <a:off x="2304288" y="2496312"/>
            <a:ext cx="3893820" cy="274320"/>
          </a:xfrm>
          <a:prstGeom prst="rect">
            <a:avLst/>
          </a:prstGeom>
          <a:noFill/>
          <a:ln/>
        </p:spPr>
        <p:txBody>
          <a:bodyPr wrap="square" lIns="0" tIns="0" rIns="0" bIns="0" rtlCol="0" anchor="t"/>
          <a:lstStyle/>
          <a:p>
            <a:pPr indent="0" marL="0">
              <a:buNone/>
            </a:pPr>
            <a:r>
              <a:rPr lang="en-US" sz="1100" b="1" dirty="0">
                <a:solidFill>
                  <a:srgbClr val="E8EDF2"/>
                </a:solidFill>
                <a:latin typeface="Arial" pitchFamily="34" charset="0"/>
                <a:ea typeface="Arial" pitchFamily="34" charset="-122"/>
                <a:cs typeface="Arial" pitchFamily="34" charset="-120"/>
              </a:rPr>
              <a:t>1 · Feed</a:t>
            </a:r>
            <a:endParaRPr lang="en-US" sz="1100" dirty="0"/>
          </a:p>
        </p:txBody>
      </p:sp>
      <p:sp>
        <p:nvSpPr>
          <p:cNvPr id="47" name="Text 45"/>
          <p:cNvSpPr txBox="1"/>
          <p:nvPr/>
        </p:nvSpPr>
        <p:spPr>
          <a:xfrm>
            <a:off x="2304288" y="2788920"/>
            <a:ext cx="3893820" cy="274320"/>
          </a:xfrm>
          <a:prstGeom prst="rect">
            <a:avLst/>
          </a:prstGeom>
          <a:noFill/>
          <a:ln/>
        </p:spPr>
        <p:txBody>
          <a:bodyPr wrap="square" lIns="0" tIns="0" rIns="0" bIns="0" rtlCol="0" anchor="t"/>
          <a:lstStyle/>
          <a:p>
            <a:pPr indent="0" marL="0">
              <a:buNone/>
            </a:pPr>
            <a:r>
              <a:rPr lang="en-US" sz="1100" dirty="0">
                <a:solidFill>
                  <a:srgbClr val="1E9BE3"/>
                </a:solidFill>
                <a:latin typeface="Courier New" pitchFamily="34" charset="0"/>
                <a:ea typeface="Courier New" pitchFamily="34" charset="-122"/>
                <a:cs typeface="Courier New" pitchFamily="34" charset="-120"/>
              </a:rPr>
              <a:t>10.83 s</a:t>
            </a:r>
            <a:endParaRPr lang="en-US" sz="1100" dirty="0"/>
          </a:p>
        </p:txBody>
      </p:sp>
      <p:sp>
        <p:nvSpPr>
          <p:cNvPr id="48" name="Shape 46"/>
          <p:cNvSpPr/>
          <p:nvPr/>
        </p:nvSpPr>
        <p:spPr>
          <a:xfrm>
            <a:off x="6326124" y="2423160"/>
            <a:ext cx="1556004" cy="822960"/>
          </a:xfrm>
          <a:prstGeom prst="roundRect">
            <a:avLst>
              <a:gd name="adj" fmla="val 6667"/>
            </a:avLst>
          </a:prstGeom>
          <a:solidFill>
            <a:srgbClr val="1E9BE3"/>
          </a:solidFill>
          <a:ln w="9525">
            <a:solidFill>
              <a:srgbClr val="1E9BE3"/>
            </a:solidFill>
            <a:prstDash val="solid"/>
          </a:ln>
        </p:spPr>
      </p:sp>
      <p:sp>
        <p:nvSpPr>
          <p:cNvPr id="49" name="Text 47"/>
          <p:cNvSpPr txBox="1"/>
          <p:nvPr/>
        </p:nvSpPr>
        <p:spPr>
          <a:xfrm>
            <a:off x="6435852" y="2496312"/>
            <a:ext cx="1373124"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2 · Pull</a:t>
            </a:r>
            <a:endParaRPr lang="en-US" sz="1100" dirty="0"/>
          </a:p>
        </p:txBody>
      </p:sp>
      <p:sp>
        <p:nvSpPr>
          <p:cNvPr id="50" name="Text 48"/>
          <p:cNvSpPr txBox="1"/>
          <p:nvPr/>
        </p:nvSpPr>
        <p:spPr>
          <a:xfrm>
            <a:off x="6435852" y="2788920"/>
            <a:ext cx="1373124" cy="27432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3.00 s</a:t>
            </a:r>
            <a:endParaRPr lang="en-US" sz="1100" dirty="0"/>
          </a:p>
        </p:txBody>
      </p:sp>
      <p:sp>
        <p:nvSpPr>
          <p:cNvPr id="51" name="Shape 49"/>
          <p:cNvSpPr/>
          <p:nvPr/>
        </p:nvSpPr>
        <p:spPr>
          <a:xfrm>
            <a:off x="7936992" y="2423160"/>
            <a:ext cx="1234440" cy="822960"/>
          </a:xfrm>
          <a:prstGeom prst="roundRect">
            <a:avLst>
              <a:gd name="adj" fmla="val 6667"/>
            </a:avLst>
          </a:prstGeom>
          <a:solidFill>
            <a:srgbClr val="1E9BE3"/>
          </a:solidFill>
          <a:ln w="9525">
            <a:solidFill>
              <a:srgbClr val="1E9BE3"/>
            </a:solidFill>
            <a:prstDash val="solid"/>
          </a:ln>
        </p:spPr>
      </p:sp>
      <p:sp>
        <p:nvSpPr>
          <p:cNvPr id="52" name="Text 50"/>
          <p:cNvSpPr txBox="1"/>
          <p:nvPr/>
        </p:nvSpPr>
        <p:spPr>
          <a:xfrm>
            <a:off x="8046720" y="2496312"/>
            <a:ext cx="105156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3 · Readjust</a:t>
            </a:r>
            <a:endParaRPr lang="en-US" sz="1100" dirty="0"/>
          </a:p>
        </p:txBody>
      </p:sp>
      <p:sp>
        <p:nvSpPr>
          <p:cNvPr id="53" name="Text 51"/>
          <p:cNvSpPr txBox="1"/>
          <p:nvPr/>
        </p:nvSpPr>
        <p:spPr>
          <a:xfrm>
            <a:off x="8046720" y="2788920"/>
            <a:ext cx="1051560" cy="27432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1.50 s</a:t>
            </a:r>
            <a:endParaRPr lang="en-US" sz="1100" dirty="0"/>
          </a:p>
        </p:txBody>
      </p:sp>
      <p:sp>
        <p:nvSpPr>
          <p:cNvPr id="54" name="Shape 52"/>
          <p:cNvSpPr/>
          <p:nvPr/>
        </p:nvSpPr>
        <p:spPr>
          <a:xfrm>
            <a:off x="9226296" y="2423160"/>
            <a:ext cx="1234440" cy="822960"/>
          </a:xfrm>
          <a:prstGeom prst="roundRect">
            <a:avLst>
              <a:gd name="adj" fmla="val 6667"/>
            </a:avLst>
          </a:prstGeom>
          <a:solidFill>
            <a:srgbClr val="1E9BE3"/>
          </a:solidFill>
          <a:ln w="9525">
            <a:solidFill>
              <a:srgbClr val="1E9BE3"/>
            </a:solidFill>
            <a:prstDash val="solid"/>
          </a:ln>
        </p:spPr>
      </p:sp>
      <p:sp>
        <p:nvSpPr>
          <p:cNvPr id="55" name="Text 53"/>
          <p:cNvSpPr txBox="1"/>
          <p:nvPr/>
        </p:nvSpPr>
        <p:spPr>
          <a:xfrm>
            <a:off x="9336024" y="2496312"/>
            <a:ext cx="105156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4 · Deposit</a:t>
            </a:r>
            <a:endParaRPr lang="en-US" sz="1100" dirty="0"/>
          </a:p>
        </p:txBody>
      </p:sp>
      <p:sp>
        <p:nvSpPr>
          <p:cNvPr id="56" name="Text 54"/>
          <p:cNvSpPr txBox="1"/>
          <p:nvPr/>
        </p:nvSpPr>
        <p:spPr>
          <a:xfrm>
            <a:off x="9336024" y="2788920"/>
            <a:ext cx="1051560" cy="274320"/>
          </a:xfrm>
          <a:prstGeom prst="rect">
            <a:avLst/>
          </a:prstGeom>
          <a:noFill/>
          <a:ln/>
        </p:spPr>
        <p:txBody>
          <a:bodyPr wrap="square" lIns="0" tIns="0" rIns="0" bIns="0" rtlCol="0" anchor="t"/>
          <a:lstStyle/>
          <a:p>
            <a:pPr indent="0" marL="0">
              <a:buNone/>
            </a:pPr>
            <a:r>
              <a:rPr lang="en-US" sz="1100" dirty="0">
                <a:solidFill>
                  <a:srgbClr val="FFFFFF"/>
                </a:solidFill>
                <a:latin typeface="Courier New" pitchFamily="34" charset="0"/>
                <a:ea typeface="Courier New" pitchFamily="34" charset="-122"/>
                <a:cs typeface="Courier New" pitchFamily="34" charset="-120"/>
              </a:rPr>
              <a:t>2.00 s</a:t>
            </a:r>
            <a:endParaRPr lang="en-US" sz="1100" dirty="0"/>
          </a:p>
        </p:txBody>
      </p:sp>
      <p:sp>
        <p:nvSpPr>
          <p:cNvPr id="57" name="Shape 55"/>
          <p:cNvSpPr/>
          <p:nvPr/>
        </p:nvSpPr>
        <p:spPr>
          <a:xfrm>
            <a:off x="10515600" y="2423160"/>
            <a:ext cx="1234440" cy="822960"/>
          </a:xfrm>
          <a:prstGeom prst="roundRect">
            <a:avLst>
              <a:gd name="adj" fmla="val 6667"/>
            </a:avLst>
          </a:prstGeom>
          <a:solidFill>
            <a:srgbClr val="172231"/>
          </a:solidFill>
          <a:ln w="9525">
            <a:solidFill>
              <a:srgbClr val="2A3A4E"/>
            </a:solidFill>
            <a:prstDash val="dash"/>
          </a:ln>
        </p:spPr>
      </p:sp>
      <p:sp>
        <p:nvSpPr>
          <p:cNvPr id="58" name="Text 56"/>
          <p:cNvSpPr txBox="1"/>
          <p:nvPr/>
        </p:nvSpPr>
        <p:spPr>
          <a:xfrm>
            <a:off x="10625328" y="2496312"/>
            <a:ext cx="1051560" cy="274320"/>
          </a:xfrm>
          <a:prstGeom prst="rect">
            <a:avLst/>
          </a:prstGeom>
          <a:noFill/>
          <a:ln/>
        </p:spPr>
        <p:txBody>
          <a:bodyPr wrap="square" lIns="0" tIns="0" rIns="0" bIns="0" rtlCol="0" anchor="t"/>
          <a:lstStyle/>
          <a:p>
            <a:pPr indent="0" marL="0">
              <a:buNone/>
            </a:pPr>
            <a:r>
              <a:rPr lang="en-US" sz="1100" b="1" dirty="0">
                <a:solidFill>
                  <a:srgbClr val="E8EDF2"/>
                </a:solidFill>
                <a:latin typeface="Arial" pitchFamily="34" charset="0"/>
                <a:ea typeface="Arial" pitchFamily="34" charset="-122"/>
                <a:cs typeface="Arial" pitchFamily="34" charset="-120"/>
              </a:rPr>
              <a:t>Buffer</a:t>
            </a:r>
            <a:endParaRPr lang="en-US" sz="1100" dirty="0"/>
          </a:p>
        </p:txBody>
      </p:sp>
      <p:sp>
        <p:nvSpPr>
          <p:cNvPr id="59" name="Text 57"/>
          <p:cNvSpPr txBox="1"/>
          <p:nvPr/>
        </p:nvSpPr>
        <p:spPr>
          <a:xfrm>
            <a:off x="10625328" y="2788920"/>
            <a:ext cx="1051560" cy="274320"/>
          </a:xfrm>
          <a:prstGeom prst="rect">
            <a:avLst/>
          </a:prstGeom>
          <a:noFill/>
          <a:ln/>
        </p:spPr>
        <p:txBody>
          <a:bodyPr wrap="square" lIns="0" tIns="0" rIns="0" bIns="0" rtlCol="0" anchor="t"/>
          <a:lstStyle/>
          <a:p>
            <a:pPr indent="0" marL="0">
              <a:buNone/>
            </a:pPr>
            <a:r>
              <a:rPr lang="en-US" sz="1100" dirty="0">
                <a:solidFill>
                  <a:srgbClr val="1E9BE3"/>
                </a:solidFill>
                <a:latin typeface="Courier New" pitchFamily="34" charset="0"/>
                <a:ea typeface="Courier New" pitchFamily="34" charset="-122"/>
                <a:cs typeface="Courier New" pitchFamily="34" charset="-120"/>
              </a:rPr>
              <a:t>0.67 s</a:t>
            </a:r>
            <a:endParaRPr lang="en-US" sz="1100" dirty="0"/>
          </a:p>
        </p:txBody>
      </p:sp>
      <p:sp>
        <p:nvSpPr>
          <p:cNvPr id="60" name="Text 58"/>
          <p:cNvSpPr txBox="1"/>
          <p:nvPr/>
        </p:nvSpPr>
        <p:spPr>
          <a:xfrm>
            <a:off x="2194560" y="3474720"/>
            <a:ext cx="9555480" cy="1005840"/>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E8EDF2"/>
                </a:solidFill>
                <a:latin typeface="Arial" pitchFamily="34" charset="0"/>
                <a:ea typeface="Arial" pitchFamily="34" charset="-122"/>
                <a:cs typeface="Arial" pitchFamily="34" charset="-120"/>
              </a:rPr>
              <a:t>Feed: </a:t>
            </a:r>
            <a:pPr indent="0" marL="0">
              <a:spcAft>
                <a:spcPts val="300"/>
              </a:spcAft>
              <a:buNone/>
            </a:pPr>
            <a:r>
              <a:rPr lang="en-US" sz="1050" dirty="0">
                <a:solidFill>
                  <a:srgbClr val="E8EDF2"/>
                </a:solidFill>
                <a:latin typeface="Arial" pitchFamily="34" charset="0"/>
                <a:ea typeface="Arial" pitchFamily="34" charset="-122"/>
                <a:cs typeface="Arial" pitchFamily="34" charset="-120"/>
              </a:rPr>
              <a:t>Set by dryer belt speed (~2 in/s over 17 in)</a:t>
            </a:r>
            <a:endParaRPr lang="en-US" sz="1050" dirty="0"/>
          </a:p>
          <a:p>
            <a:pPr marL="152400" indent="-152400">
              <a:spcAft>
                <a:spcPts val="300"/>
              </a:spcAft>
              <a:buSzPct val="100000"/>
              <a:buChar char="•"/>
            </a:pPr>
            <a:r>
              <a:rPr lang="en-US" sz="1050" b="1" dirty="0">
                <a:solidFill>
                  <a:srgbClr val="E8EDF2"/>
                </a:solidFill>
                <a:latin typeface="Arial" pitchFamily="34" charset="0"/>
                <a:ea typeface="Arial" pitchFamily="34" charset="-122"/>
                <a:cs typeface="Arial" pitchFamily="34" charset="-120"/>
              </a:rPr>
              <a:t>Pull: </a:t>
            </a:r>
            <a:pPr indent="0" marL="0">
              <a:spcAft>
                <a:spcPts val="300"/>
              </a:spcAft>
              <a:buNone/>
            </a:pPr>
            <a:r>
              <a:rPr lang="en-US" sz="1050" dirty="0">
                <a:solidFill>
                  <a:srgbClr val="E8EDF2"/>
                </a:solidFill>
                <a:latin typeface="Arial" pitchFamily="34" charset="0"/>
                <a:ea typeface="Arial" pitchFamily="34" charset="-122"/>
                <a:cs typeface="Arial" pitchFamily="34" charset="-120"/>
              </a:rPr>
              <a:t>39 in: 20 in/s² to 27.2 in/s peak, decel, 5 in/s creep to limit switch</a:t>
            </a:r>
            <a:endParaRPr lang="en-US" sz="1050" dirty="0"/>
          </a:p>
          <a:p>
            <a:pPr marL="152400" indent="-152400">
              <a:spcAft>
                <a:spcPts val="300"/>
              </a:spcAft>
              <a:buSzPct val="100000"/>
              <a:buChar char="•"/>
            </a:pPr>
            <a:r>
              <a:rPr lang="en-US" sz="1050" b="1" dirty="0">
                <a:solidFill>
                  <a:srgbClr val="E8EDF2"/>
                </a:solidFill>
                <a:latin typeface="Arial" pitchFamily="34" charset="0"/>
                <a:ea typeface="Arial" pitchFamily="34" charset="-122"/>
                <a:cs typeface="Arial" pitchFamily="34" charset="-120"/>
              </a:rPr>
              <a:t>Readjust: </a:t>
            </a:r>
            <a:pPr indent="0" marL="0">
              <a:spcAft>
                <a:spcPts val="300"/>
              </a:spcAft>
              <a:buNone/>
            </a:pPr>
            <a:r>
              <a:rPr lang="en-US" sz="1050" dirty="0">
                <a:solidFill>
                  <a:srgbClr val="E8EDF2"/>
                </a:solidFill>
                <a:latin typeface="Arial" pitchFamily="34" charset="0"/>
                <a:ea typeface="Arial" pitchFamily="34" charset="-122"/>
                <a:cs typeface="Arial" pitchFamily="34" charset="-120"/>
              </a:rPr>
              <a:t>Belt runs ~5 in to lay the hanging garment flat</a:t>
            </a:r>
            <a:endParaRPr lang="en-US" sz="1050" dirty="0"/>
          </a:p>
          <a:p>
            <a:pPr marL="152400" indent="-152400">
              <a:spcAft>
                <a:spcPts val="300"/>
              </a:spcAft>
              <a:buSzPct val="100000"/>
              <a:buChar char="•"/>
            </a:pPr>
            <a:r>
              <a:rPr lang="en-US" sz="1050" b="1" dirty="0">
                <a:solidFill>
                  <a:srgbClr val="E8EDF2"/>
                </a:solidFill>
                <a:latin typeface="Arial" pitchFamily="34" charset="0"/>
                <a:ea typeface="Arial" pitchFamily="34" charset="-122"/>
                <a:cs typeface="Arial" pitchFamily="34" charset="-120"/>
              </a:rPr>
              <a:t>Deposit: </a:t>
            </a:r>
            <a:pPr indent="0" marL="0">
              <a:spcAft>
                <a:spcPts val="300"/>
              </a:spcAft>
              <a:buNone/>
            </a:pPr>
            <a:r>
              <a:rPr lang="en-US" sz="1050" dirty="0">
                <a:solidFill>
                  <a:srgbClr val="E8EDF2"/>
                </a:solidFill>
                <a:latin typeface="Arial" pitchFamily="34" charset="0"/>
                <a:ea typeface="Arial" pitchFamily="34" charset="-122"/>
                <a:cs typeface="Arial" pitchFamily="34" charset="-120"/>
              </a:rPr>
              <a:t>Belt and shuttle speed-matched at 22.5 in/s after a 0.4 s lead-in</a:t>
            </a:r>
            <a:endParaRPr lang="en-US" sz="1050" dirty="0"/>
          </a:p>
        </p:txBody>
      </p:sp>
      <p:sp>
        <p:nvSpPr>
          <p:cNvPr id="61" name="Shape 59"/>
          <p:cNvSpPr/>
          <p:nvPr/>
        </p:nvSpPr>
        <p:spPr>
          <a:xfrm>
            <a:off x="2194560" y="4526280"/>
            <a:ext cx="9555480" cy="1581912"/>
          </a:xfrm>
          <a:prstGeom prst="roundRect">
            <a:avLst>
              <a:gd name="adj" fmla="val 4624"/>
            </a:avLst>
          </a:prstGeom>
          <a:solidFill>
            <a:srgbClr val="FFFFFF"/>
          </a:solidFill>
          <a:ln w="9525">
            <a:solidFill>
              <a:srgbClr val="2A3A4E"/>
            </a:solidFill>
            <a:prstDash val="solid"/>
          </a:ln>
        </p:spPr>
      </p:sp>
      <p:pic>
        <p:nvPicPr>
          <p:cNvPr id="62" name="Image 0" descr="tshirt-stacker/images/cycle-timing-calculator.png">    </p:cNvPr>
          <p:cNvPicPr>
            <a:picLocks noChangeAspect="1"/>
          </p:cNvPicPr>
          <p:nvPr/>
        </p:nvPicPr>
        <p:blipFill>
          <a:blip r:embed="rId1"/>
          <a:stretch>
            <a:fillRect/>
          </a:stretch>
        </p:blipFill>
        <p:spPr>
          <a:xfrm>
            <a:off x="5036602" y="4636008"/>
            <a:ext cx="3871397" cy="1362456"/>
          </a:xfrm>
          <a:prstGeom prst="rect">
            <a:avLst/>
          </a:prstGeom>
        </p:spPr>
      </p:pic>
      <p:sp>
        <p:nvSpPr>
          <p:cNvPr id="63" name="Text 60"/>
          <p:cNvSpPr txBox="1"/>
          <p:nvPr/>
        </p:nvSpPr>
        <p:spPr>
          <a:xfrm>
            <a:off x="2194560" y="6163056"/>
            <a:ext cx="955548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Cycle-timing calculator: geometry inputs, phase durations, and Phase 2 velocity/acceleration profiles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E9BE3"/>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7</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Motion &amp; Timing: Shuttle Motor Sizing</a:t>
            </a:r>
            <a:endParaRPr lang="en-US" sz="2600" dirty="0"/>
          </a:p>
        </p:txBody>
      </p:sp>
      <p:sp>
        <p:nvSpPr>
          <p:cNvPr id="43" name="Text 41"/>
          <p:cNvSpPr txBox="1"/>
          <p:nvPr/>
        </p:nvSpPr>
        <p:spPr>
          <a:xfrm>
            <a:off x="2194560" y="1627632"/>
            <a:ext cx="955548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Same section of the page, continued</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194560" y="2011680"/>
          <a:ext cx="4480560" cy="914400"/>
        </p:xfrm>
        <a:graphic>
          <a:graphicData uri="http://schemas.openxmlformats.org/drawingml/2006/table">
            <a:tbl>
              <a:tblPr/>
              <a:tblGrid>
                <a:gridCol w="1234440"/>
                <a:gridCol w="868680"/>
                <a:gridCol w="777240"/>
                <a:gridCol w="868680"/>
                <a:gridCol w="731520"/>
              </a:tblGrid>
              <a:tr h="329184">
                <a:tc>
                  <a:txBody>
                    <a:bodyPr/>
                    <a:lstStyle/>
                    <a:p>
                      <a:pPr indent="0" marL="0">
                        <a:buNone/>
                      </a:pPr>
                      <a:r>
                        <a:rPr lang="en-US" sz="950" b="1" dirty="0">
                          <a:solidFill>
                            <a:srgbClr val="E8EDF2"/>
                          </a:solidFill>
                          <a:latin typeface="Arial" pitchFamily="34" charset="0"/>
                          <a:ea typeface="Arial" pitchFamily="34" charset="-122"/>
                          <a:cs typeface="Arial" pitchFamily="34" charset="-120"/>
                        </a:rPr>
                        <a:t>Strategy</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Accel (in/s²)</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Peak (in/s)</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Torque</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Speed</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No-Flip (Hang)</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20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27.2</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190 oz-in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260 rpm</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No-Flip (Clamp)</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20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27.2</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190 oz-in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260 rpm</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Flip (Clamp)</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30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34.7</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246 oz-in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331 rpm</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Flip (Hang)</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50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45.3</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356 oz-in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433 rpm</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bl>
          </a:graphicData>
        </a:graphic>
      </p:graphicFrame>
      <p:sp>
        <p:nvSpPr>
          <p:cNvPr id="45" name="Text 42"/>
          <p:cNvSpPr txBox="1"/>
          <p:nvPr/>
        </p:nvSpPr>
        <p:spPr>
          <a:xfrm>
            <a:off x="2194560" y="3840480"/>
            <a:ext cx="4480560" cy="118872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Includes 50 lb shuttle inertia, friction allowance, 90% efficiency, and a 1.5 safety factor. Each point is plotted on the PKP268D42 NEMA 23 pull-out curve (24 VDC, 4.2 A/phase): No-Flip cases have margin; Flip (Hang) reaches the pull-out limit.</a:t>
            </a:r>
            <a:endParaRPr lang="en-US" sz="1050" dirty="0"/>
          </a:p>
        </p:txBody>
      </p:sp>
      <p:sp>
        <p:nvSpPr>
          <p:cNvPr id="46" name="Shape 43"/>
          <p:cNvSpPr/>
          <p:nvPr/>
        </p:nvSpPr>
        <p:spPr>
          <a:xfrm>
            <a:off x="6949440" y="2011680"/>
            <a:ext cx="4800600" cy="2039112"/>
          </a:xfrm>
          <a:prstGeom prst="roundRect">
            <a:avLst>
              <a:gd name="adj" fmla="val 3587"/>
            </a:avLst>
          </a:prstGeom>
          <a:solidFill>
            <a:srgbClr val="FFFFFF"/>
          </a:solidFill>
          <a:ln w="9525">
            <a:solidFill>
              <a:srgbClr val="2A3A4E"/>
            </a:solidFill>
            <a:prstDash val="solid"/>
          </a:ln>
        </p:spPr>
      </p:sp>
      <p:pic>
        <p:nvPicPr>
          <p:cNvPr id="47" name="Image 0" descr="tshirt-stacker/images/shuttle-motor-sizing.png">    </p:cNvPr>
          <p:cNvPicPr>
            <a:picLocks noChangeAspect="1"/>
          </p:cNvPicPr>
          <p:nvPr/>
        </p:nvPicPr>
        <p:blipFill>
          <a:blip r:embed="rId1"/>
          <a:stretch>
            <a:fillRect/>
          </a:stretch>
        </p:blipFill>
        <p:spPr>
          <a:xfrm>
            <a:off x="7059168" y="2148457"/>
            <a:ext cx="4581144" cy="1765558"/>
          </a:xfrm>
          <a:prstGeom prst="rect">
            <a:avLst/>
          </a:prstGeom>
        </p:spPr>
      </p:pic>
      <p:sp>
        <p:nvSpPr>
          <p:cNvPr id="48" name="Text 44"/>
          <p:cNvSpPr txBox="1"/>
          <p:nvPr/>
        </p:nvSpPr>
        <p:spPr>
          <a:xfrm>
            <a:off x="6949440" y="4105656"/>
            <a:ext cx="48006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Torque/speed requirements vs. NEMA 23 pull-out curve</a:t>
            </a:r>
            <a:endParaRPr lang="en-US" sz="900" dirty="0"/>
          </a:p>
        </p:txBody>
      </p:sp>
      <p:sp>
        <p:nvSpPr>
          <p:cNvPr id="49" name="Shape 45"/>
          <p:cNvSpPr/>
          <p:nvPr/>
        </p:nvSpPr>
        <p:spPr>
          <a:xfrm>
            <a:off x="6949440" y="4526280"/>
            <a:ext cx="4800600" cy="1581912"/>
          </a:xfrm>
          <a:prstGeom prst="roundRect">
            <a:avLst>
              <a:gd name="adj" fmla="val 4624"/>
            </a:avLst>
          </a:prstGeom>
          <a:solidFill>
            <a:srgbClr val="FFFFFF"/>
          </a:solidFill>
          <a:ln w="9525">
            <a:solidFill>
              <a:srgbClr val="2A3A4E"/>
            </a:solidFill>
            <a:prstDash val="solid"/>
          </a:ln>
        </p:spPr>
      </p:sp>
      <p:pic>
        <p:nvPicPr>
          <p:cNvPr id="50" name="Image 1" descr="tshirt-stacker/images/deposit-phase-calculator.png">    </p:cNvPr>
          <p:cNvPicPr>
            <a:picLocks noChangeAspect="1"/>
          </p:cNvPicPr>
          <p:nvPr/>
        </p:nvPicPr>
        <p:blipFill>
          <a:blip r:embed="rId2"/>
          <a:stretch>
            <a:fillRect/>
          </a:stretch>
        </p:blipFill>
        <p:spPr>
          <a:xfrm>
            <a:off x="7760933" y="4636008"/>
            <a:ext cx="3177613" cy="1362456"/>
          </a:xfrm>
          <a:prstGeom prst="rect">
            <a:avLst/>
          </a:prstGeom>
        </p:spPr>
      </p:pic>
      <p:sp>
        <p:nvSpPr>
          <p:cNvPr id="51" name="Text 46"/>
          <p:cNvSpPr txBox="1"/>
          <p:nvPr/>
        </p:nvSpPr>
        <p:spPr>
          <a:xfrm>
            <a:off x="6949440" y="6163056"/>
            <a:ext cx="48006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Phase 4 deposit: speed-matched belt and translation</a:t>
            </a:r>
            <a:endParaRPr lang="en-US" sz="900" dirty="0"/>
          </a:p>
        </p:txBody>
      </p:sp>
      <p:sp>
        <p:nvSpPr>
          <p:cNvPr id="52" name="Shape 47"/>
          <p:cNvSpPr/>
          <p:nvPr/>
        </p:nvSpPr>
        <p:spPr>
          <a:xfrm>
            <a:off x="2194560" y="5074920"/>
            <a:ext cx="4480560" cy="1033272"/>
          </a:xfrm>
          <a:prstGeom prst="roundRect">
            <a:avLst>
              <a:gd name="adj" fmla="val 7080"/>
            </a:avLst>
          </a:prstGeom>
          <a:solidFill>
            <a:srgbClr val="FFFFFF"/>
          </a:solidFill>
          <a:ln w="9525">
            <a:solidFill>
              <a:srgbClr val="2A3A4E"/>
            </a:solidFill>
            <a:prstDash val="solid"/>
          </a:ln>
        </p:spPr>
      </p:sp>
      <p:pic>
        <p:nvPicPr>
          <p:cNvPr id="53" name="Image 2" descr="tshirt-stacker/images/shuttle-velocity-profile.png">    </p:cNvPr>
          <p:cNvPicPr>
            <a:picLocks noChangeAspect="1"/>
          </p:cNvPicPr>
          <p:nvPr/>
        </p:nvPicPr>
        <p:blipFill>
          <a:blip r:embed="rId3"/>
          <a:stretch>
            <a:fillRect/>
          </a:stretch>
        </p:blipFill>
        <p:spPr>
          <a:xfrm>
            <a:off x="3396523" y="5184648"/>
            <a:ext cx="2076634" cy="813816"/>
          </a:xfrm>
          <a:prstGeom prst="rect">
            <a:avLst/>
          </a:prstGeom>
        </p:spPr>
      </p:pic>
      <p:sp>
        <p:nvSpPr>
          <p:cNvPr id="54" name="Text 48"/>
          <p:cNvSpPr txBox="1"/>
          <p:nvPr/>
        </p:nvSpPr>
        <p:spPr>
          <a:xfrm>
            <a:off x="2194560" y="6163056"/>
            <a:ext cx="448056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Shuttle velocity profile comparison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E9BE3"/>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8</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Electronics &amp; Controls</a:t>
            </a:r>
            <a:endParaRPr lang="en-US" sz="2600" dirty="0"/>
          </a:p>
        </p:txBody>
      </p:sp>
      <p:sp>
        <p:nvSpPr>
          <p:cNvPr id="43" name="Shape 41"/>
          <p:cNvSpPr/>
          <p:nvPr/>
        </p:nvSpPr>
        <p:spPr>
          <a:xfrm>
            <a:off x="2194560" y="1828800"/>
            <a:ext cx="4846320" cy="4526280"/>
          </a:xfrm>
          <a:prstGeom prst="roundRect">
            <a:avLst>
              <a:gd name="adj" fmla="val 1616"/>
            </a:avLst>
          </a:prstGeom>
          <a:solidFill>
            <a:srgbClr val="172231"/>
          </a:solidFill>
          <a:ln w="9525">
            <a:solidFill>
              <a:srgbClr val="2A3A4E"/>
            </a:solidFill>
            <a:prstDash val="solid"/>
          </a:ln>
        </p:spPr>
      </p:sp>
      <p:sp>
        <p:nvSpPr>
          <p:cNvPr id="44" name="Text 42"/>
          <p:cNvSpPr txBox="1"/>
          <p:nvPr/>
        </p:nvSpPr>
        <p:spPr>
          <a:xfrm>
            <a:off x="2423160" y="1993392"/>
            <a:ext cx="438912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Final Implementation</a:t>
            </a:r>
            <a:endParaRPr lang="en-US" sz="1300" dirty="0"/>
          </a:p>
        </p:txBody>
      </p:sp>
      <p:sp>
        <p:nvSpPr>
          <p:cNvPr id="45" name="Text 43"/>
          <p:cNvSpPr txBox="1"/>
          <p:nvPr/>
        </p:nvSpPr>
        <p:spPr>
          <a:xfrm>
            <a:off x="2423160" y="2331720"/>
            <a:ext cx="4434840" cy="2377440"/>
          </a:xfrm>
          <a:prstGeom prst="rect">
            <a:avLst/>
          </a:prstGeom>
          <a:noFill/>
          <a:ln/>
        </p:spPr>
        <p:txBody>
          <a:bodyPr wrap="square" lIns="0" tIns="0" rIns="0" bIns="0" rtlCol="0" anchor="t"/>
          <a:lstStyle/>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Controller: </a:t>
            </a:r>
            <a:pPr indent="0" marL="0">
              <a:spcAft>
                <a:spcPts val="500"/>
              </a:spcAft>
              <a:buNone/>
            </a:pPr>
            <a:r>
              <a:rPr lang="en-US" sz="1050" dirty="0">
                <a:solidFill>
                  <a:srgbClr val="E8EDF2"/>
                </a:solidFill>
                <a:latin typeface="Arial" pitchFamily="34" charset="0"/>
                <a:ea typeface="Arial" pitchFamily="34" charset="-122"/>
                <a:cs typeface="Arial" pitchFamily="34" charset="-120"/>
              </a:rPr>
              <a:t>Arduino Mega for I/O count</a:t>
            </a:r>
            <a:endParaRPr lang="en-US" sz="1050" dirty="0"/>
          </a:p>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Motors &amp; drivers: </a:t>
            </a:r>
            <a:pPr indent="0" marL="0">
              <a:spcAft>
                <a:spcPts val="500"/>
              </a:spcAft>
              <a:buNone/>
            </a:pPr>
            <a:r>
              <a:rPr lang="en-US" sz="1050" dirty="0">
                <a:solidFill>
                  <a:srgbClr val="E8EDF2"/>
                </a:solidFill>
                <a:latin typeface="Arial" pitchFamily="34" charset="0"/>
                <a:ea typeface="Arial" pitchFamily="34" charset="-122"/>
                <a:cs typeface="Arial" pitchFamily="34" charset="-120"/>
              </a:rPr>
              <a:t>DM542 / DM860T; NEMA 23 shuttle steppers, braked NEMA 34 lift with planetary gearbox</a:t>
            </a:r>
            <a:endParaRPr lang="en-US" sz="1050" dirty="0"/>
          </a:p>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I/O: </a:t>
            </a:r>
            <a:pPr indent="0" marL="0">
              <a:spcAft>
                <a:spcPts val="500"/>
              </a:spcAft>
              <a:buNone/>
            </a:pPr>
            <a:r>
              <a:rPr lang="en-US" sz="1050" dirty="0">
                <a:solidFill>
                  <a:srgbClr val="E8EDF2"/>
                </a:solidFill>
                <a:latin typeface="Arial" pitchFamily="34" charset="0"/>
                <a:ea typeface="Arial" pitchFamily="34" charset="-122"/>
                <a:cs typeface="Arial" pitchFamily="34" charset="-120"/>
              </a:rPr>
              <a:t>IRLZ44N MOSFETs, PC817 optocouplers</a:t>
            </a:r>
            <a:endParaRPr lang="en-US" sz="1050" dirty="0"/>
          </a:p>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Sensors: </a:t>
            </a:r>
            <a:pPr indent="0" marL="0">
              <a:spcAft>
                <a:spcPts val="500"/>
              </a:spcAft>
              <a:buNone/>
            </a:pPr>
            <a:r>
              <a:rPr lang="en-US" sz="1050" dirty="0">
                <a:solidFill>
                  <a:srgbClr val="E8EDF2"/>
                </a:solidFill>
                <a:latin typeface="Arial" pitchFamily="34" charset="0"/>
                <a:ea typeface="Arial" pitchFamily="34" charset="-122"/>
                <a:cs typeface="Arial" pitchFamily="34" charset="-120"/>
              </a:rPr>
              <a:t>IR break-beams, Hall-effect, limit switch, DS18B20</a:t>
            </a:r>
            <a:endParaRPr lang="en-US" sz="1050" dirty="0"/>
          </a:p>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UI: </a:t>
            </a:r>
            <a:pPr indent="0" marL="0">
              <a:spcAft>
                <a:spcPts val="500"/>
              </a:spcAft>
              <a:buNone/>
            </a:pPr>
            <a:r>
              <a:rPr lang="en-US" sz="1050" dirty="0">
                <a:solidFill>
                  <a:srgbClr val="E8EDF2"/>
                </a:solidFill>
                <a:latin typeface="Arial" pitchFamily="34" charset="0"/>
                <a:ea typeface="Arial" pitchFamily="34" charset="-122"/>
                <a:cs typeface="Arial" pitchFamily="34" charset="-120"/>
              </a:rPr>
              <a:t>LCD, encoder, Start, Pause, Home, Reset, E-stop</a:t>
            </a:r>
            <a:endParaRPr lang="en-US" sz="1050" dirty="0"/>
          </a:p>
          <a:p>
            <a:pPr marL="152400" indent="-152400">
              <a:spcAft>
                <a:spcPts val="500"/>
              </a:spcAft>
              <a:buSzPct val="100000"/>
              <a:buChar char="•"/>
            </a:pPr>
            <a:r>
              <a:rPr lang="en-US" sz="1050" b="1" dirty="0">
                <a:solidFill>
                  <a:srgbClr val="E8EDF2"/>
                </a:solidFill>
                <a:latin typeface="Arial" pitchFamily="34" charset="0"/>
                <a:ea typeface="Arial" pitchFamily="34" charset="-122"/>
                <a:cs typeface="Arial" pitchFamily="34" charset="-120"/>
              </a:rPr>
              <a:t>Safety: </a:t>
            </a:r>
            <a:pPr indent="0" marL="0">
              <a:spcAft>
                <a:spcPts val="500"/>
              </a:spcAft>
              <a:buNone/>
            </a:pPr>
            <a:r>
              <a:rPr lang="en-US" sz="1050" dirty="0">
                <a:solidFill>
                  <a:srgbClr val="E8EDF2"/>
                </a:solidFill>
                <a:latin typeface="Arial" pitchFamily="34" charset="0"/>
                <a:ea typeface="Arial" pitchFamily="34" charset="-122"/>
                <a:cs typeface="Arial" pitchFamily="34" charset="-120"/>
              </a:rPr>
              <a:t>hardware E-stop via safety relay and contactor</a:t>
            </a:r>
            <a:endParaRPr lang="en-US" sz="1050" dirty="0"/>
          </a:p>
        </p:txBody>
      </p:sp>
      <p:sp>
        <p:nvSpPr>
          <p:cNvPr id="46" name="Text 44"/>
          <p:cNvSpPr txBox="1"/>
          <p:nvPr/>
        </p:nvSpPr>
        <p:spPr>
          <a:xfrm>
            <a:off x="2423160" y="4343400"/>
            <a:ext cx="438912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My Role</a:t>
            </a:r>
            <a:endParaRPr lang="en-US" sz="1300" dirty="0"/>
          </a:p>
        </p:txBody>
      </p:sp>
      <p:sp>
        <p:nvSpPr>
          <p:cNvPr id="47" name="Text 45"/>
          <p:cNvSpPr txBox="1"/>
          <p:nvPr/>
        </p:nvSpPr>
        <p:spPr>
          <a:xfrm>
            <a:off x="2423160" y="4645152"/>
            <a:ext cx="4389120"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Owned electronics and controls: component selection, schematic, current budget, wiring, wire schedule, and BOM coordination across ~23 vendors. Designed every 3D-printed part: enclosures, junction boxes, and sensor mounts.</a:t>
            </a:r>
            <a:endParaRPr lang="en-US" sz="1050" dirty="0"/>
          </a:p>
        </p:txBody>
      </p:sp>
      <p:sp>
        <p:nvSpPr>
          <p:cNvPr id="48" name="Shape 46"/>
          <p:cNvSpPr/>
          <p:nvPr/>
        </p:nvSpPr>
        <p:spPr>
          <a:xfrm>
            <a:off x="7360920" y="1828800"/>
            <a:ext cx="4389120" cy="4233672"/>
          </a:xfrm>
          <a:prstGeom prst="roundRect">
            <a:avLst>
              <a:gd name="adj" fmla="val 1728"/>
            </a:avLst>
          </a:prstGeom>
          <a:solidFill>
            <a:srgbClr val="FFFFFF"/>
          </a:solidFill>
          <a:ln w="9525">
            <a:solidFill>
              <a:srgbClr val="2A3A4E"/>
            </a:solidFill>
            <a:prstDash val="solid"/>
          </a:ln>
        </p:spPr>
      </p:sp>
      <p:pic>
        <p:nvPicPr>
          <p:cNvPr id="49" name="Image 0" descr="tshirt-stacker/images/system-schematic.png">    </p:cNvPr>
          <p:cNvPicPr>
            <a:picLocks noChangeAspect="1"/>
          </p:cNvPicPr>
          <p:nvPr/>
        </p:nvPicPr>
        <p:blipFill>
          <a:blip r:embed="rId1"/>
          <a:stretch>
            <a:fillRect/>
          </a:stretch>
        </p:blipFill>
        <p:spPr>
          <a:xfrm>
            <a:off x="7470648" y="2716743"/>
            <a:ext cx="4169664" cy="2457785"/>
          </a:xfrm>
          <a:prstGeom prst="rect">
            <a:avLst/>
          </a:prstGeom>
        </p:spPr>
      </p:pic>
      <p:sp>
        <p:nvSpPr>
          <p:cNvPr id="50" name="Text 47"/>
          <p:cNvSpPr txBox="1"/>
          <p:nvPr/>
        </p:nvSpPr>
        <p:spPr>
          <a:xfrm>
            <a:off x="7360920" y="6117336"/>
            <a:ext cx="438912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Complete system circuit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E9BE3"/>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8</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Electronics &amp; Controls: Power &amp; Enclosures</a:t>
            </a:r>
            <a:endParaRPr lang="en-US" sz="2600" dirty="0"/>
          </a:p>
        </p:txBody>
      </p:sp>
      <p:sp>
        <p:nvSpPr>
          <p:cNvPr id="43" name="Text 41"/>
          <p:cNvSpPr txBox="1"/>
          <p:nvPr/>
        </p:nvSpPr>
        <p:spPr>
          <a:xfrm>
            <a:off x="2194560" y="1627632"/>
            <a:ext cx="9555480" cy="274320"/>
          </a:xfrm>
          <a:prstGeom prst="rect">
            <a:avLst/>
          </a:prstGeom>
          <a:noFill/>
          <a:ln/>
        </p:spPr>
        <p:txBody>
          <a:bodyPr wrap="square" lIns="0" tIns="0" rIns="0" bIns="0" rtlCol="0" anchor="t"/>
          <a:lstStyle/>
          <a:p>
            <a:pPr indent="0" marL="0">
              <a:buNone/>
            </a:pPr>
            <a:r>
              <a:rPr lang="en-US" sz="1300" dirty="0">
                <a:solidFill>
                  <a:srgbClr val="93A1B0"/>
                </a:solidFill>
                <a:latin typeface="Arial" pitchFamily="34" charset="0"/>
                <a:ea typeface="Arial" pitchFamily="34" charset="-122"/>
                <a:cs typeface="Arial" pitchFamily="34" charset="-120"/>
              </a:rPr>
              <a:t>Same section of the page, continued</a:t>
            </a:r>
            <a:endParaRPr lang="en-US" sz="1300" dirty="0"/>
          </a:p>
        </p:txBody>
      </p:sp>
      <p:sp>
        <p:nvSpPr>
          <p:cNvPr id="44" name="Text 42"/>
          <p:cNvSpPr txBox="1"/>
          <p:nvPr/>
        </p:nvSpPr>
        <p:spPr>
          <a:xfrm>
            <a:off x="2194560" y="1965960"/>
            <a:ext cx="420624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Current Budget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194560" y="2286000"/>
          <a:ext cx="4206240" cy="914400"/>
        </p:xfrm>
        <a:graphic>
          <a:graphicData uri="http://schemas.openxmlformats.org/drawingml/2006/table">
            <a:tbl>
              <a:tblPr/>
              <a:tblGrid>
                <a:gridCol w="1554480"/>
                <a:gridCol w="1554480"/>
                <a:gridCol w="1097280"/>
              </a:tblGrid>
              <a:tr h="329184">
                <a:tc>
                  <a:txBody>
                    <a:bodyPr/>
                    <a:lstStyle/>
                    <a:p>
                      <a:pPr indent="0" marL="0">
                        <a:buNone/>
                      </a:pPr>
                      <a:r>
                        <a:rPr lang="en-US" sz="1000" b="1" dirty="0">
                          <a:solidFill>
                            <a:srgbClr val="E8EDF2"/>
                          </a:solidFill>
                          <a:latin typeface="Arial" pitchFamily="34" charset="0"/>
                          <a:ea typeface="Arial" pitchFamily="34" charset="-122"/>
                          <a:cs typeface="Arial" pitchFamily="34" charset="-120"/>
                        </a:rPr>
                        <a:t>Load</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1000" b="1" dirty="0">
                          <a:solidFill>
                            <a:srgbClr val="E8EDF2"/>
                          </a:solidFill>
                          <a:latin typeface="Arial" pitchFamily="34" charset="0"/>
                          <a:ea typeface="Arial" pitchFamily="34" charset="-122"/>
                          <a:cs typeface="Arial" pitchFamily="34" charset="-120"/>
                        </a:rPr>
                        <a:t>Basis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1000" b="1" dirty="0">
                          <a:solidFill>
                            <a:srgbClr val="E8EDF2"/>
                          </a:solidFill>
                          <a:latin typeface="Arial" pitchFamily="34" charset="0"/>
                          <a:ea typeface="Arial" pitchFamily="34" charset="-122"/>
                          <a:cs typeface="Arial" pitchFamily="34" charset="-120"/>
                        </a:rPr>
                        <a:t>36 V equiv.</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r>
              <a:tr h="329184">
                <a:tc>
                  <a:txBody>
                    <a:bodyPr/>
                    <a:lstStyle/>
                    <a:p>
                      <a:pPr indent="0" marL="0">
                        <a:buNone/>
                      </a:pPr>
                      <a:r>
                        <a:rPr lang="en-US" sz="1000" dirty="0">
                          <a:solidFill>
                            <a:srgbClr val="C9D3DD"/>
                          </a:solidFill>
                          <a:latin typeface="Arial" pitchFamily="34" charset="0"/>
                          <a:ea typeface="Arial" pitchFamily="34" charset="-122"/>
                          <a:cs typeface="Arial" pitchFamily="34" charset="-120"/>
                        </a:rPr>
                        <a:t>Stepper drivers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4.2 + 4.2 + 6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14.4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dirty="0">
                          <a:solidFill>
                            <a:srgbClr val="C9D3DD"/>
                          </a:solidFill>
                          <a:latin typeface="Arial" pitchFamily="34" charset="0"/>
                          <a:ea typeface="Arial" pitchFamily="34" charset="-122"/>
                          <a:cs typeface="Arial" pitchFamily="34" charset="-120"/>
                        </a:rPr>
                        <a:t>Light beacon</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24 V × 2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1.5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dirty="0">
                          <a:solidFill>
                            <a:srgbClr val="C9D3DD"/>
                          </a:solidFill>
                          <a:latin typeface="Arial" pitchFamily="34" charset="0"/>
                          <a:ea typeface="Arial" pitchFamily="34" charset="-122"/>
                          <a:cs typeface="Arial" pitchFamily="34" charset="-120"/>
                        </a:rPr>
                        <a:t>E-brake</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24 V × 2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1.5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dirty="0">
                          <a:solidFill>
                            <a:srgbClr val="C9D3DD"/>
                          </a:solidFill>
                          <a:latin typeface="Arial" pitchFamily="34" charset="0"/>
                          <a:ea typeface="Arial" pitchFamily="34" charset="-122"/>
                          <a:cs typeface="Arial" pitchFamily="34" charset="-120"/>
                        </a:rPr>
                        <a:t>Servo</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6 V × 1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0.2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dirty="0">
                          <a:solidFill>
                            <a:srgbClr val="C9D3DD"/>
                          </a:solidFill>
                          <a:latin typeface="Arial" pitchFamily="34" charset="0"/>
                          <a:ea typeface="Arial" pitchFamily="34" charset="-122"/>
                          <a:cs typeface="Arial" pitchFamily="34" charset="-120"/>
                        </a:rPr>
                        <a:t>Smaller electronics</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dirty="0">
                          <a:solidFill>
                            <a:srgbClr val="C9D3DD"/>
                          </a:solidFill>
                          <a:latin typeface="Arial" pitchFamily="34" charset="0"/>
                          <a:ea typeface="Arial" pitchFamily="34" charset="-122"/>
                          <a:cs typeface="Arial" pitchFamily="34" charset="-120"/>
                        </a:rPr>
                        <a:t>est. 10–30 W</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0.9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b="1" dirty="0">
                          <a:solidFill>
                            <a:srgbClr val="C9D3DD"/>
                          </a:solidFill>
                          <a:latin typeface="Arial" pitchFamily="34" charset="0"/>
                          <a:ea typeface="Arial" pitchFamily="34" charset="-122"/>
                          <a:cs typeface="Arial" pitchFamily="34" charset="-120"/>
                        </a:rPr>
                        <a:t>Theoretical max</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18.5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000" b="1" dirty="0">
                          <a:solidFill>
                            <a:srgbClr val="C9D3DD"/>
                          </a:solidFill>
                          <a:latin typeface="Arial" pitchFamily="34" charset="0"/>
                          <a:ea typeface="Arial" pitchFamily="34" charset="-122"/>
                          <a:cs typeface="Arial" pitchFamily="34" charset="-120"/>
                        </a:rPr>
                        <a:t>Realistic high draw</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C9D3DD"/>
                          </a:solidFill>
                          <a:latin typeface="Arial" pitchFamily="34" charset="0"/>
                          <a:ea typeface="Arial" pitchFamily="34" charset="-122"/>
                          <a:cs typeface="Arial" pitchFamily="34" charset="-120"/>
                        </a:rPr>
                        <a:t>vs. 16.6 A supply</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000" b="1" dirty="0">
                          <a:solidFill>
                            <a:srgbClr val="1E9BE3"/>
                          </a:solidFill>
                          <a:latin typeface="Arial" pitchFamily="34" charset="0"/>
                          <a:ea typeface="Arial" pitchFamily="34" charset="-122"/>
                          <a:cs typeface="Arial" pitchFamily="34" charset="-120"/>
                        </a:rPr>
                        <a:t>12.54 A</a:t>
                      </a:r>
                      <a:endParaRPr lang="en-US" sz="1000" dirty="0">
                        <a:latin typeface="Arial" charset="0"/>
                        <a:ea typeface="Arial" charset="0"/>
                        <a:cs typeface="Arial" charset="0"/>
                      </a:endParaRPr>
                    </a:p>
                  </a:txBody>
                  <a:tcPr marL="54864" marR="54864" marT="54864" marB="54864"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bl>
          </a:graphicData>
        </a:graphic>
      </p:graphicFrame>
      <p:sp>
        <p:nvSpPr>
          <p:cNvPr id="46" name="Text 43"/>
          <p:cNvSpPr txBox="1"/>
          <p:nvPr/>
        </p:nvSpPr>
        <p:spPr>
          <a:xfrm>
            <a:off x="2194560" y="5074920"/>
            <a:ext cx="4206240" cy="1097280"/>
          </a:xfrm>
          <a:prstGeom prst="rect">
            <a:avLst/>
          </a:prstGeom>
          <a:noFill/>
          <a:ln/>
        </p:spPr>
        <p:txBody>
          <a:bodyPr wrap="square" lIns="0" tIns="0" rIns="0" bIns="0" rtlCol="0" anchor="t"/>
          <a:lstStyle/>
          <a:p>
            <a:pPr indent="0" marL="0">
              <a:lnSpc>
                <a:spcPct val="115000"/>
              </a:lnSpc>
              <a:buNone/>
            </a:pPr>
            <a:r>
              <a:rPr lang="en-US" sz="1050" dirty="0">
                <a:solidFill>
                  <a:srgbClr val="C9D3DD"/>
                </a:solidFill>
                <a:latin typeface="Arial" pitchFamily="34" charset="0"/>
                <a:ea typeface="Arial" pitchFamily="34" charset="-122"/>
                <a:cs typeface="Arial" pitchFamily="34" charset="-120"/>
              </a:rPr>
              <a:t>Three main enclosures plus 3D-printed terminal-block junction boxes where cable runs branch off. Altech terminal blocks, Igus Chainflex and SOOW cable, PG cable glands, all documented in a wire schedule.</a:t>
            </a:r>
            <a:endParaRPr lang="en-US" sz="1050" dirty="0"/>
          </a:p>
        </p:txBody>
      </p:sp>
      <p:sp>
        <p:nvSpPr>
          <p:cNvPr id="47" name="Shape 44"/>
          <p:cNvSpPr/>
          <p:nvPr/>
        </p:nvSpPr>
        <p:spPr>
          <a:xfrm>
            <a:off x="6720840" y="1965960"/>
            <a:ext cx="1524000" cy="2039112"/>
          </a:xfrm>
          <a:prstGeom prst="roundRect">
            <a:avLst>
              <a:gd name="adj" fmla="val 4800"/>
            </a:avLst>
          </a:prstGeom>
          <a:solidFill>
            <a:srgbClr val="FFFFFF"/>
          </a:solidFill>
          <a:ln w="9525">
            <a:solidFill>
              <a:srgbClr val="2A3A4E"/>
            </a:solidFill>
            <a:prstDash val="solid"/>
          </a:ln>
        </p:spPr>
      </p:sp>
      <p:pic>
        <p:nvPicPr>
          <p:cNvPr id="48" name="Image 0" descr="tshirt-stacker/images/enclosure-power.png">    </p:cNvPr>
          <p:cNvPicPr>
            <a:picLocks noChangeAspect="1"/>
          </p:cNvPicPr>
          <p:nvPr/>
        </p:nvPicPr>
        <p:blipFill>
          <a:blip r:embed="rId1"/>
          <a:stretch>
            <a:fillRect/>
          </a:stretch>
        </p:blipFill>
        <p:spPr>
          <a:xfrm>
            <a:off x="6830568" y="2293471"/>
            <a:ext cx="1304544" cy="1384089"/>
          </a:xfrm>
          <a:prstGeom prst="rect">
            <a:avLst/>
          </a:prstGeom>
        </p:spPr>
      </p:pic>
      <p:sp>
        <p:nvSpPr>
          <p:cNvPr id="49" name="Text 45"/>
          <p:cNvSpPr txBox="1"/>
          <p:nvPr/>
        </p:nvSpPr>
        <p:spPr>
          <a:xfrm>
            <a:off x="6720840" y="40599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Power supply &amp; switch</a:t>
            </a:r>
            <a:endParaRPr lang="en-US" sz="900" dirty="0"/>
          </a:p>
        </p:txBody>
      </p:sp>
      <p:sp>
        <p:nvSpPr>
          <p:cNvPr id="50" name="Shape 46"/>
          <p:cNvSpPr/>
          <p:nvPr/>
        </p:nvSpPr>
        <p:spPr>
          <a:xfrm>
            <a:off x="8473440" y="1965960"/>
            <a:ext cx="1524000" cy="2039112"/>
          </a:xfrm>
          <a:prstGeom prst="roundRect">
            <a:avLst>
              <a:gd name="adj" fmla="val 4800"/>
            </a:avLst>
          </a:prstGeom>
          <a:solidFill>
            <a:srgbClr val="FFFFFF"/>
          </a:solidFill>
          <a:ln w="9525">
            <a:solidFill>
              <a:srgbClr val="2A3A4E"/>
            </a:solidFill>
            <a:prstDash val="solid"/>
          </a:ln>
        </p:spPr>
      </p:sp>
      <p:pic>
        <p:nvPicPr>
          <p:cNvPr id="51" name="Image 1" descr="tshirt-stacker/images/enclosure-main-controller.png">    </p:cNvPr>
          <p:cNvPicPr>
            <a:picLocks noChangeAspect="1"/>
          </p:cNvPicPr>
          <p:nvPr/>
        </p:nvPicPr>
        <p:blipFill>
          <a:blip r:embed="rId2"/>
          <a:stretch>
            <a:fillRect/>
          </a:stretch>
        </p:blipFill>
        <p:spPr>
          <a:xfrm>
            <a:off x="8583168" y="2190694"/>
            <a:ext cx="1304544" cy="1589643"/>
          </a:xfrm>
          <a:prstGeom prst="rect">
            <a:avLst/>
          </a:prstGeom>
        </p:spPr>
      </p:pic>
      <p:sp>
        <p:nvSpPr>
          <p:cNvPr id="52" name="Text 47"/>
          <p:cNvSpPr txBox="1"/>
          <p:nvPr/>
        </p:nvSpPr>
        <p:spPr>
          <a:xfrm>
            <a:off x="8473440" y="40599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Main electronics</a:t>
            </a:r>
            <a:endParaRPr lang="en-US" sz="900" dirty="0"/>
          </a:p>
        </p:txBody>
      </p:sp>
      <p:sp>
        <p:nvSpPr>
          <p:cNvPr id="53" name="Shape 48"/>
          <p:cNvSpPr/>
          <p:nvPr/>
        </p:nvSpPr>
        <p:spPr>
          <a:xfrm>
            <a:off x="10226040" y="1965960"/>
            <a:ext cx="1524000" cy="2039112"/>
          </a:xfrm>
          <a:prstGeom prst="roundRect">
            <a:avLst>
              <a:gd name="adj" fmla="val 4800"/>
            </a:avLst>
          </a:prstGeom>
          <a:solidFill>
            <a:srgbClr val="FFFFFF"/>
          </a:solidFill>
          <a:ln w="9525">
            <a:solidFill>
              <a:srgbClr val="2A3A4E"/>
            </a:solidFill>
            <a:prstDash val="solid"/>
          </a:ln>
        </p:spPr>
      </p:sp>
      <p:pic>
        <p:nvPicPr>
          <p:cNvPr id="54" name="Image 2" descr="tshirt-stacker/images/enclosure-user-interface.png">    </p:cNvPr>
          <p:cNvPicPr>
            <a:picLocks noChangeAspect="1"/>
          </p:cNvPicPr>
          <p:nvPr/>
        </p:nvPicPr>
        <p:blipFill>
          <a:blip r:embed="rId3"/>
          <a:stretch>
            <a:fillRect/>
          </a:stretch>
        </p:blipFill>
        <p:spPr>
          <a:xfrm>
            <a:off x="10335768" y="2492318"/>
            <a:ext cx="1304544" cy="986396"/>
          </a:xfrm>
          <a:prstGeom prst="rect">
            <a:avLst/>
          </a:prstGeom>
        </p:spPr>
      </p:pic>
      <p:sp>
        <p:nvSpPr>
          <p:cNvPr id="55" name="Text 49"/>
          <p:cNvSpPr txBox="1"/>
          <p:nvPr/>
        </p:nvSpPr>
        <p:spPr>
          <a:xfrm>
            <a:off x="10226040" y="40599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User interface</a:t>
            </a:r>
            <a:endParaRPr lang="en-US" sz="900" dirty="0"/>
          </a:p>
        </p:txBody>
      </p:sp>
      <p:sp>
        <p:nvSpPr>
          <p:cNvPr id="56" name="Shape 50"/>
          <p:cNvSpPr/>
          <p:nvPr/>
        </p:nvSpPr>
        <p:spPr>
          <a:xfrm>
            <a:off x="6720840" y="4526280"/>
            <a:ext cx="1524000" cy="1536192"/>
          </a:xfrm>
          <a:prstGeom prst="roundRect">
            <a:avLst>
              <a:gd name="adj" fmla="val 4800"/>
            </a:avLst>
          </a:prstGeom>
          <a:solidFill>
            <a:srgbClr val="FFFFFF"/>
          </a:solidFill>
          <a:ln w="9525">
            <a:solidFill>
              <a:srgbClr val="2A3A4E"/>
            </a:solidFill>
            <a:prstDash val="solid"/>
          </a:ln>
        </p:spPr>
      </p:sp>
      <p:pic>
        <p:nvPicPr>
          <p:cNvPr id="57" name="Image 3" descr="tshirt-stacker/images/junction-box-frame.png">    </p:cNvPr>
          <p:cNvPicPr>
            <a:picLocks noChangeAspect="1"/>
          </p:cNvPicPr>
          <p:nvPr/>
        </p:nvPicPr>
        <p:blipFill>
          <a:blip r:embed="rId4"/>
          <a:stretch>
            <a:fillRect/>
          </a:stretch>
        </p:blipFill>
        <p:spPr>
          <a:xfrm>
            <a:off x="6833979" y="4636008"/>
            <a:ext cx="1297722" cy="1316736"/>
          </a:xfrm>
          <a:prstGeom prst="rect">
            <a:avLst/>
          </a:prstGeom>
        </p:spPr>
      </p:pic>
      <p:sp>
        <p:nvSpPr>
          <p:cNvPr id="58" name="Text 51"/>
          <p:cNvSpPr txBox="1"/>
          <p:nvPr/>
        </p:nvSpPr>
        <p:spPr>
          <a:xfrm>
            <a:off x="6720840" y="61173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Junction box: frame</a:t>
            </a:r>
            <a:endParaRPr lang="en-US" sz="900" dirty="0"/>
          </a:p>
        </p:txBody>
      </p:sp>
      <p:sp>
        <p:nvSpPr>
          <p:cNvPr id="59" name="Shape 52"/>
          <p:cNvSpPr/>
          <p:nvPr/>
        </p:nvSpPr>
        <p:spPr>
          <a:xfrm>
            <a:off x="8473440" y="4526280"/>
            <a:ext cx="1524000" cy="1536192"/>
          </a:xfrm>
          <a:prstGeom prst="roundRect">
            <a:avLst>
              <a:gd name="adj" fmla="val 4800"/>
            </a:avLst>
          </a:prstGeom>
          <a:solidFill>
            <a:srgbClr val="FFFFFF"/>
          </a:solidFill>
          <a:ln w="9525">
            <a:solidFill>
              <a:srgbClr val="2A3A4E"/>
            </a:solidFill>
            <a:prstDash val="solid"/>
          </a:ln>
        </p:spPr>
      </p:sp>
      <p:pic>
        <p:nvPicPr>
          <p:cNvPr id="60" name="Image 4" descr="tshirt-stacker/images/junction-box-shuttle.png">    </p:cNvPr>
          <p:cNvPicPr>
            <a:picLocks noChangeAspect="1"/>
          </p:cNvPicPr>
          <p:nvPr/>
        </p:nvPicPr>
        <p:blipFill>
          <a:blip r:embed="rId5"/>
          <a:stretch>
            <a:fillRect/>
          </a:stretch>
        </p:blipFill>
        <p:spPr>
          <a:xfrm>
            <a:off x="8583168" y="4803670"/>
            <a:ext cx="1304544" cy="981412"/>
          </a:xfrm>
          <a:prstGeom prst="rect">
            <a:avLst/>
          </a:prstGeom>
        </p:spPr>
      </p:pic>
      <p:sp>
        <p:nvSpPr>
          <p:cNvPr id="61" name="Text 53"/>
          <p:cNvSpPr txBox="1"/>
          <p:nvPr/>
        </p:nvSpPr>
        <p:spPr>
          <a:xfrm>
            <a:off x="8473440" y="61173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Junction box: shuttle</a:t>
            </a:r>
            <a:endParaRPr lang="en-US" sz="900" dirty="0"/>
          </a:p>
        </p:txBody>
      </p:sp>
      <p:sp>
        <p:nvSpPr>
          <p:cNvPr id="62" name="Shape 54"/>
          <p:cNvSpPr/>
          <p:nvPr/>
        </p:nvSpPr>
        <p:spPr>
          <a:xfrm>
            <a:off x="10226040" y="4526280"/>
            <a:ext cx="1524000" cy="1536192"/>
          </a:xfrm>
          <a:prstGeom prst="roundRect">
            <a:avLst>
              <a:gd name="adj" fmla="val 4800"/>
            </a:avLst>
          </a:prstGeom>
          <a:solidFill>
            <a:srgbClr val="FFFFFF"/>
          </a:solidFill>
          <a:ln w="9525">
            <a:solidFill>
              <a:srgbClr val="2A3A4E"/>
            </a:solidFill>
            <a:prstDash val="solid"/>
          </a:ln>
        </p:spPr>
      </p:sp>
      <p:pic>
        <p:nvPicPr>
          <p:cNvPr id="63" name="Image 5" descr="tshirt-stacker/images/junction-box-lift.png">    </p:cNvPr>
          <p:cNvPicPr>
            <a:picLocks noChangeAspect="1"/>
          </p:cNvPicPr>
          <p:nvPr/>
        </p:nvPicPr>
        <p:blipFill>
          <a:blip r:embed="rId6"/>
          <a:stretch>
            <a:fillRect/>
          </a:stretch>
        </p:blipFill>
        <p:spPr>
          <a:xfrm>
            <a:off x="10491490" y="4636008"/>
            <a:ext cx="993100" cy="1316736"/>
          </a:xfrm>
          <a:prstGeom prst="rect">
            <a:avLst/>
          </a:prstGeom>
        </p:spPr>
      </p:pic>
      <p:sp>
        <p:nvSpPr>
          <p:cNvPr id="64" name="Text 55"/>
          <p:cNvSpPr txBox="1"/>
          <p:nvPr/>
        </p:nvSpPr>
        <p:spPr>
          <a:xfrm>
            <a:off x="10226040" y="6117336"/>
            <a:ext cx="1524000" cy="237744"/>
          </a:xfrm>
          <a:prstGeom prst="rect">
            <a:avLst/>
          </a:prstGeom>
          <a:noFill/>
          <a:ln/>
        </p:spPr>
        <p:txBody>
          <a:bodyPr wrap="square" lIns="0" tIns="0" rIns="0" bIns="0" rtlCol="0" anchor="t"/>
          <a:lstStyle/>
          <a:p>
            <a:pPr indent="0" marL="0">
              <a:buNone/>
            </a:pPr>
            <a:r>
              <a:rPr lang="en-US" sz="900" dirty="0">
                <a:solidFill>
                  <a:srgbClr val="93A1B0"/>
                </a:solidFill>
                <a:latin typeface="Arial" pitchFamily="34" charset="0"/>
                <a:ea typeface="Arial" pitchFamily="34" charset="-122"/>
                <a:cs typeface="Arial" pitchFamily="34" charset="-120"/>
              </a:rPr>
              <a:t>Junction box: lift mast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E9BE3"/>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9</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Integration, Risks &amp; Validation</a:t>
            </a:r>
            <a:endParaRPr lang="en-US" sz="2600" dirty="0"/>
          </a:p>
        </p:txBody>
      </p:sp>
      <p:sp>
        <p:nvSpPr>
          <p:cNvPr id="43" name="Shape 41"/>
          <p:cNvSpPr/>
          <p:nvPr/>
        </p:nvSpPr>
        <p:spPr>
          <a:xfrm>
            <a:off x="2194560" y="1828800"/>
            <a:ext cx="4640580" cy="1417320"/>
          </a:xfrm>
          <a:prstGeom prst="roundRect">
            <a:avLst>
              <a:gd name="adj" fmla="val 5161"/>
            </a:avLst>
          </a:prstGeom>
          <a:solidFill>
            <a:srgbClr val="172231"/>
          </a:solidFill>
          <a:ln w="9525">
            <a:solidFill>
              <a:srgbClr val="2A3A4E"/>
            </a:solidFill>
            <a:prstDash val="solid"/>
          </a:ln>
        </p:spPr>
      </p:sp>
      <p:sp>
        <p:nvSpPr>
          <p:cNvPr id="44" name="Text 42"/>
          <p:cNvSpPr txBox="1"/>
          <p:nvPr/>
        </p:nvSpPr>
        <p:spPr>
          <a:xfrm>
            <a:off x="2423160" y="1965960"/>
            <a:ext cx="41833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Physical Integration</a:t>
            </a:r>
            <a:endParaRPr lang="en-US" sz="1300" dirty="0"/>
          </a:p>
        </p:txBody>
      </p:sp>
      <p:sp>
        <p:nvSpPr>
          <p:cNvPr id="45" name="Text 43"/>
          <p:cNvSpPr txBox="1"/>
          <p:nvPr/>
        </p:nvSpPr>
        <p:spPr>
          <a:xfrm>
            <a:off x="2423160" y="2286000"/>
            <a:ext cx="4229100"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E8EDF2"/>
                </a:solidFill>
                <a:latin typeface="Arial" pitchFamily="34" charset="0"/>
                <a:ea typeface="Arial" pitchFamily="34" charset="-122"/>
                <a:cs typeface="Arial" pitchFamily="34" charset="-120"/>
              </a:rPr>
              <a:t>Frame wraps around the dryer conveyor legs; no permanent installation</a:t>
            </a:r>
            <a:endParaRPr lang="en-US" sz="1050" dirty="0"/>
          </a:p>
          <a:p>
            <a:pPr marL="152400" indent="-152400">
              <a:spcAft>
                <a:spcPts val="300"/>
              </a:spcAft>
              <a:buSzPct val="100000"/>
              <a:buChar char="•"/>
            </a:pPr>
            <a:r>
              <a:rPr lang="en-US" sz="1050" dirty="0">
                <a:solidFill>
                  <a:srgbClr val="E8EDF2"/>
                </a:solidFill>
                <a:latin typeface="Arial" pitchFamily="34" charset="0"/>
                <a:ea typeface="Arial" pitchFamily="34" charset="-122"/>
                <a:cs typeface="Arial" pitchFamily="34" charset="-120"/>
              </a:rPr>
              <a:t>Shuttle aligned with the dryer belt, with clearance for a smooth transfer</a:t>
            </a:r>
            <a:endParaRPr lang="en-US" sz="1050" dirty="0"/>
          </a:p>
        </p:txBody>
      </p:sp>
      <p:sp>
        <p:nvSpPr>
          <p:cNvPr id="46" name="Shape 44"/>
          <p:cNvSpPr/>
          <p:nvPr/>
        </p:nvSpPr>
        <p:spPr>
          <a:xfrm>
            <a:off x="7109460" y="1828800"/>
            <a:ext cx="4640580" cy="1417320"/>
          </a:xfrm>
          <a:prstGeom prst="roundRect">
            <a:avLst>
              <a:gd name="adj" fmla="val 5161"/>
            </a:avLst>
          </a:prstGeom>
          <a:solidFill>
            <a:srgbClr val="172231"/>
          </a:solidFill>
          <a:ln w="9525">
            <a:solidFill>
              <a:srgbClr val="2A3A4E"/>
            </a:solidFill>
            <a:prstDash val="solid"/>
          </a:ln>
        </p:spPr>
      </p:sp>
      <p:sp>
        <p:nvSpPr>
          <p:cNvPr id="47" name="Text 45"/>
          <p:cNvSpPr txBox="1"/>
          <p:nvPr/>
        </p:nvSpPr>
        <p:spPr>
          <a:xfrm>
            <a:off x="7338060" y="1965960"/>
            <a:ext cx="41833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Functional Integration</a:t>
            </a:r>
            <a:endParaRPr lang="en-US" sz="1300" dirty="0"/>
          </a:p>
        </p:txBody>
      </p:sp>
      <p:sp>
        <p:nvSpPr>
          <p:cNvPr id="48" name="Text 46"/>
          <p:cNvSpPr txBox="1"/>
          <p:nvPr/>
        </p:nvSpPr>
        <p:spPr>
          <a:xfrm>
            <a:off x="7338060" y="2286000"/>
            <a:ext cx="4229100"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E8EDF2"/>
                </a:solidFill>
                <a:latin typeface="Arial" pitchFamily="34" charset="0"/>
                <a:ea typeface="Arial" pitchFamily="34" charset="-122"/>
                <a:cs typeface="Arial" pitchFamily="34" charset="-120"/>
              </a:rPr>
              <a:t>Garment detection triggers the translate + convey sequence</a:t>
            </a:r>
            <a:endParaRPr lang="en-US" sz="1050" dirty="0"/>
          </a:p>
          <a:p>
            <a:pPr marL="152400" indent="-152400">
              <a:spcAft>
                <a:spcPts val="300"/>
              </a:spcAft>
              <a:buSzPct val="100000"/>
              <a:buChar char="•"/>
            </a:pPr>
            <a:r>
              <a:rPr lang="en-US" sz="1050" dirty="0">
                <a:solidFill>
                  <a:srgbClr val="E8EDF2"/>
                </a:solidFill>
                <a:latin typeface="Arial" pitchFamily="34" charset="0"/>
                <a:ea typeface="Arial" pitchFamily="34" charset="-122"/>
                <a:cs typeface="Arial" pitchFamily="34" charset="-120"/>
              </a:rPr>
              <a:t>Shuttle speed matched to the dryer, then tuned</a:t>
            </a:r>
            <a:endParaRPr lang="en-US" sz="1050" dirty="0"/>
          </a:p>
          <a:p>
            <a:pPr marL="152400" indent="-152400">
              <a:spcAft>
                <a:spcPts val="300"/>
              </a:spcAft>
              <a:buSzPct val="100000"/>
              <a:buChar char="•"/>
            </a:pPr>
            <a:r>
              <a:rPr lang="en-US" sz="1050" dirty="0">
                <a:solidFill>
                  <a:srgbClr val="E8EDF2"/>
                </a:solidFill>
                <a:latin typeface="Arial" pitchFamily="34" charset="0"/>
                <a:ea typeface="Arial" pitchFamily="34" charset="-122"/>
                <a:cs typeface="Arial" pitchFamily="34" charset="-120"/>
              </a:rPr>
              <a:t>Break-beam gives closed-loop stack height control</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194560" y="3474720"/>
          <a:ext cx="5852160" cy="914400"/>
        </p:xfrm>
        <a:graphic>
          <a:graphicData uri="http://schemas.openxmlformats.org/drawingml/2006/table">
            <a:tbl>
              <a:tblPr/>
              <a:tblGrid>
                <a:gridCol w="2011680"/>
                <a:gridCol w="731520"/>
                <a:gridCol w="3108960"/>
              </a:tblGrid>
              <a:tr h="329184">
                <a:tc>
                  <a:txBody>
                    <a:bodyPr/>
                    <a:lstStyle/>
                    <a:p>
                      <a:pPr indent="0" marL="0">
                        <a:buNone/>
                      </a:pPr>
                      <a:r>
                        <a:rPr lang="en-US" sz="950" b="1" dirty="0">
                          <a:solidFill>
                            <a:srgbClr val="E8EDF2"/>
                          </a:solidFill>
                          <a:latin typeface="Arial" pitchFamily="34" charset="0"/>
                          <a:ea typeface="Arial" pitchFamily="34" charset="-122"/>
                          <a:cs typeface="Arial" pitchFamily="34" charset="-120"/>
                        </a:rPr>
                        <a:t>Failure mode (FMEA)</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RPN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950" b="1" dirty="0">
                          <a:solidFill>
                            <a:srgbClr val="E8EDF2"/>
                          </a:solidFill>
                          <a:latin typeface="Arial" pitchFamily="34" charset="0"/>
                          <a:ea typeface="Arial" pitchFamily="34" charset="-122"/>
                          <a:cs typeface="Arial" pitchFamily="34" charset="-120"/>
                        </a:rPr>
                        <a:t>Mitigation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Electrical failure</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Environmental protection, ratings, fusing, wire mgmt</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Debris / lint</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162</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Guide shields, cleaning intervals</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Shuttle collision / height error</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144</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Break-beam line of sight, logic safeguards</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Garment misplacement</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100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Secondary sensing, controlled motion</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950" dirty="0">
                          <a:solidFill>
                            <a:srgbClr val="C9D3DD"/>
                          </a:solidFill>
                          <a:latin typeface="Arial" pitchFamily="34" charset="0"/>
                          <a:ea typeface="Arial" pitchFamily="34" charset="-122"/>
                          <a:cs typeface="Arial" pitchFamily="34" charset="-120"/>
                        </a:rPr>
                        <a:t>Structural / fastener</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b="1" dirty="0">
                          <a:solidFill>
                            <a:srgbClr val="1E9BE3"/>
                          </a:solidFill>
                          <a:latin typeface="Arial" pitchFamily="34" charset="0"/>
                          <a:ea typeface="Arial" pitchFamily="34" charset="-122"/>
                          <a:cs typeface="Arial" pitchFamily="34" charset="-120"/>
                        </a:rPr>
                        <a:t>100–120</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950" dirty="0">
                          <a:solidFill>
                            <a:srgbClr val="C9D3DD"/>
                          </a:solidFill>
                          <a:latin typeface="Arial" pitchFamily="34" charset="0"/>
                          <a:ea typeface="Arial" pitchFamily="34" charset="-122"/>
                          <a:cs typeface="Arial" pitchFamily="34" charset="-120"/>
                        </a:rPr>
                        <a:t>FEA-informed design, locking fasteners</a:t>
                      </a:r>
                      <a:endParaRPr lang="en-US" sz="950" dirty="0">
                        <a:latin typeface="Arial" charset="0"/>
                        <a:ea typeface="Arial" charset="0"/>
                        <a:cs typeface="Arial" charset="0"/>
                      </a:endParaRPr>
                    </a:p>
                  </a:txBody>
                  <a:tcPr marL="45720" marR="45720" marT="45720" marB="45720"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bl>
          </a:graphicData>
        </a:graphic>
      </p:graphicFrame>
      <p:sp>
        <p:nvSpPr>
          <p:cNvPr id="50" name="Shape 47"/>
          <p:cNvSpPr/>
          <p:nvPr/>
        </p:nvSpPr>
        <p:spPr>
          <a:xfrm>
            <a:off x="8321040" y="3474720"/>
            <a:ext cx="3429000" cy="640080"/>
          </a:xfrm>
          <a:prstGeom prst="roundRect">
            <a:avLst>
              <a:gd name="adj" fmla="val 11429"/>
            </a:avLst>
          </a:prstGeom>
          <a:solidFill>
            <a:srgbClr val="172231"/>
          </a:solidFill>
          <a:ln w="9525">
            <a:solidFill>
              <a:srgbClr val="2A3A4E"/>
            </a:solidFill>
            <a:prstDash val="solid"/>
          </a:ln>
        </p:spPr>
      </p:sp>
      <p:sp>
        <p:nvSpPr>
          <p:cNvPr id="51" name="Text 48"/>
          <p:cNvSpPr txBox="1"/>
          <p:nvPr/>
        </p:nvSpPr>
        <p:spPr>
          <a:xfrm>
            <a:off x="8503920" y="3547872"/>
            <a:ext cx="3063240" cy="219456"/>
          </a:xfrm>
          <a:prstGeom prst="rect">
            <a:avLst/>
          </a:prstGeom>
          <a:noFill/>
          <a:ln/>
        </p:spPr>
        <p:txBody>
          <a:bodyPr wrap="square" lIns="0" tIns="0" rIns="0" bIns="0" rtlCol="0" anchor="t"/>
          <a:lstStyle/>
          <a:p>
            <a:pPr indent="0" marL="0">
              <a:buNone/>
            </a:pPr>
            <a:r>
              <a:rPr lang="en-US" sz="1100" b="1" dirty="0">
                <a:solidFill>
                  <a:srgbClr val="1E9BE3"/>
                </a:solidFill>
                <a:latin typeface="Arial" pitchFamily="34" charset="0"/>
                <a:ea typeface="Arial" pitchFamily="34" charset="-122"/>
                <a:cs typeface="Arial" pitchFamily="34" charset="-120"/>
              </a:rPr>
              <a:t>Functional</a:t>
            </a:r>
            <a:endParaRPr lang="en-US" sz="1100" dirty="0"/>
          </a:p>
        </p:txBody>
      </p:sp>
      <p:sp>
        <p:nvSpPr>
          <p:cNvPr id="52" name="Text 49"/>
          <p:cNvSpPr txBox="1"/>
          <p:nvPr/>
        </p:nvSpPr>
        <p:spPr>
          <a:xfrm>
            <a:off x="8503920" y="3785616"/>
            <a:ext cx="3063240" cy="274320"/>
          </a:xfrm>
          <a:prstGeom prst="rect">
            <a:avLst/>
          </a:prstGeom>
          <a:noFill/>
          <a:ln/>
        </p:spPr>
        <p:txBody>
          <a:bodyPr wrap="square" lIns="0" tIns="0" rIns="0" bIns="0" rtlCol="0" anchor="t"/>
          <a:lstStyle/>
          <a:p>
            <a:pPr indent="0" marL="0">
              <a:buNone/>
            </a:pPr>
            <a:r>
              <a:rPr lang="en-US" sz="950" dirty="0">
                <a:solidFill>
                  <a:srgbClr val="C9D3DD"/>
                </a:solidFill>
                <a:latin typeface="Arial" pitchFamily="34" charset="0"/>
                <a:ea typeface="Arial" pitchFamily="34" charset="-122"/>
                <a:cs typeface="Arial" pitchFamily="34" charset="-120"/>
              </a:rPr>
              <a:t>Detection → transfer → placement → stack adjust</a:t>
            </a:r>
            <a:endParaRPr lang="en-US" sz="950" dirty="0"/>
          </a:p>
        </p:txBody>
      </p:sp>
      <p:sp>
        <p:nvSpPr>
          <p:cNvPr id="53" name="Shape 50"/>
          <p:cNvSpPr/>
          <p:nvPr/>
        </p:nvSpPr>
        <p:spPr>
          <a:xfrm>
            <a:off x="8321040" y="4206240"/>
            <a:ext cx="3429000" cy="640080"/>
          </a:xfrm>
          <a:prstGeom prst="roundRect">
            <a:avLst>
              <a:gd name="adj" fmla="val 11429"/>
            </a:avLst>
          </a:prstGeom>
          <a:solidFill>
            <a:srgbClr val="172231"/>
          </a:solidFill>
          <a:ln w="9525">
            <a:solidFill>
              <a:srgbClr val="2A3A4E"/>
            </a:solidFill>
            <a:prstDash val="solid"/>
          </a:ln>
        </p:spPr>
      </p:sp>
      <p:sp>
        <p:nvSpPr>
          <p:cNvPr id="54" name="Text 51"/>
          <p:cNvSpPr txBox="1"/>
          <p:nvPr/>
        </p:nvSpPr>
        <p:spPr>
          <a:xfrm>
            <a:off x="8503920" y="4279392"/>
            <a:ext cx="3063240" cy="219456"/>
          </a:xfrm>
          <a:prstGeom prst="rect">
            <a:avLst/>
          </a:prstGeom>
          <a:noFill/>
          <a:ln/>
        </p:spPr>
        <p:txBody>
          <a:bodyPr wrap="square" lIns="0" tIns="0" rIns="0" bIns="0" rtlCol="0" anchor="t"/>
          <a:lstStyle/>
          <a:p>
            <a:pPr indent="0" marL="0">
              <a:buNone/>
            </a:pPr>
            <a:r>
              <a:rPr lang="en-US" sz="1100" b="1" dirty="0">
                <a:solidFill>
                  <a:srgbClr val="1E9BE3"/>
                </a:solidFill>
                <a:latin typeface="Arial" pitchFamily="34" charset="0"/>
                <a:ea typeface="Arial" pitchFamily="34" charset="-122"/>
                <a:cs typeface="Arial" pitchFamily="34" charset="-120"/>
              </a:rPr>
              <a:t>Performance</a:t>
            </a:r>
            <a:endParaRPr lang="en-US" sz="1100" dirty="0"/>
          </a:p>
        </p:txBody>
      </p:sp>
      <p:sp>
        <p:nvSpPr>
          <p:cNvPr id="55" name="Text 52"/>
          <p:cNvSpPr txBox="1"/>
          <p:nvPr/>
        </p:nvSpPr>
        <p:spPr>
          <a:xfrm>
            <a:off x="8503920" y="4517136"/>
            <a:ext cx="3063240" cy="274320"/>
          </a:xfrm>
          <a:prstGeom prst="rect">
            <a:avLst/>
          </a:prstGeom>
          <a:noFill/>
          <a:ln/>
        </p:spPr>
        <p:txBody>
          <a:bodyPr wrap="square" lIns="0" tIns="0" rIns="0" bIns="0" rtlCol="0" anchor="t"/>
          <a:lstStyle/>
          <a:p>
            <a:pPr indent="0" marL="0">
              <a:buNone/>
            </a:pPr>
            <a:r>
              <a:rPr lang="en-US" sz="950" dirty="0">
                <a:solidFill>
                  <a:srgbClr val="C9D3DD"/>
                </a:solidFill>
                <a:latin typeface="Arial" pitchFamily="34" charset="0"/>
                <a:ea typeface="Arial" pitchFamily="34" charset="-122"/>
                <a:cs typeface="Arial" pitchFamily="34" charset="-120"/>
              </a:rPr>
              <a:t>Throughput vs. 200/hr; tune shuttle speed</a:t>
            </a:r>
            <a:endParaRPr lang="en-US" sz="950" dirty="0"/>
          </a:p>
        </p:txBody>
      </p:sp>
      <p:sp>
        <p:nvSpPr>
          <p:cNvPr id="56" name="Shape 53"/>
          <p:cNvSpPr/>
          <p:nvPr/>
        </p:nvSpPr>
        <p:spPr>
          <a:xfrm>
            <a:off x="8321040" y="4937760"/>
            <a:ext cx="3429000" cy="640080"/>
          </a:xfrm>
          <a:prstGeom prst="roundRect">
            <a:avLst>
              <a:gd name="adj" fmla="val 11429"/>
            </a:avLst>
          </a:prstGeom>
          <a:solidFill>
            <a:srgbClr val="172231"/>
          </a:solidFill>
          <a:ln w="9525">
            <a:solidFill>
              <a:srgbClr val="2A3A4E"/>
            </a:solidFill>
            <a:prstDash val="solid"/>
          </a:ln>
        </p:spPr>
      </p:sp>
      <p:sp>
        <p:nvSpPr>
          <p:cNvPr id="57" name="Text 54"/>
          <p:cNvSpPr txBox="1"/>
          <p:nvPr/>
        </p:nvSpPr>
        <p:spPr>
          <a:xfrm>
            <a:off x="8503920" y="5010912"/>
            <a:ext cx="3063240" cy="219456"/>
          </a:xfrm>
          <a:prstGeom prst="rect">
            <a:avLst/>
          </a:prstGeom>
          <a:noFill/>
          <a:ln/>
        </p:spPr>
        <p:txBody>
          <a:bodyPr wrap="square" lIns="0" tIns="0" rIns="0" bIns="0" rtlCol="0" anchor="t"/>
          <a:lstStyle/>
          <a:p>
            <a:pPr indent="0" marL="0">
              <a:buNone/>
            </a:pPr>
            <a:r>
              <a:rPr lang="en-US" sz="1100" b="1" dirty="0">
                <a:solidFill>
                  <a:srgbClr val="1E9BE3"/>
                </a:solidFill>
                <a:latin typeface="Arial" pitchFamily="34" charset="0"/>
                <a:ea typeface="Arial" pitchFamily="34" charset="-122"/>
                <a:cs typeface="Arial" pitchFamily="34" charset="-120"/>
              </a:rPr>
              <a:t>Stack Quality</a:t>
            </a:r>
            <a:endParaRPr lang="en-US" sz="1100" dirty="0"/>
          </a:p>
        </p:txBody>
      </p:sp>
      <p:sp>
        <p:nvSpPr>
          <p:cNvPr id="58" name="Text 55"/>
          <p:cNvSpPr txBox="1"/>
          <p:nvPr/>
        </p:nvSpPr>
        <p:spPr>
          <a:xfrm>
            <a:off x="8503920" y="5248656"/>
            <a:ext cx="3063240" cy="274320"/>
          </a:xfrm>
          <a:prstGeom prst="rect">
            <a:avLst/>
          </a:prstGeom>
          <a:noFill/>
          <a:ln/>
        </p:spPr>
        <p:txBody>
          <a:bodyPr wrap="square" lIns="0" tIns="0" rIns="0" bIns="0" rtlCol="0" anchor="t"/>
          <a:lstStyle/>
          <a:p>
            <a:pPr indent="0" marL="0">
              <a:buNone/>
            </a:pPr>
            <a:r>
              <a:rPr lang="en-US" sz="950" dirty="0">
                <a:solidFill>
                  <a:srgbClr val="C9D3DD"/>
                </a:solidFill>
                <a:latin typeface="Arial" pitchFamily="34" charset="0"/>
                <a:ea typeface="Arial" pitchFamily="34" charset="-122"/>
                <a:cs typeface="Arial" pitchFamily="34" charset="-120"/>
              </a:rPr>
              <a:t>Alignment &amp; stability; fail = collapse/tip</a:t>
            </a:r>
            <a:endParaRPr lang="en-US" sz="950" dirty="0"/>
          </a:p>
        </p:txBody>
      </p:sp>
      <p:sp>
        <p:nvSpPr>
          <p:cNvPr id="59" name="Shape 56"/>
          <p:cNvSpPr/>
          <p:nvPr/>
        </p:nvSpPr>
        <p:spPr>
          <a:xfrm>
            <a:off x="8321040" y="5669280"/>
            <a:ext cx="3429000" cy="640080"/>
          </a:xfrm>
          <a:prstGeom prst="roundRect">
            <a:avLst>
              <a:gd name="adj" fmla="val 11429"/>
            </a:avLst>
          </a:prstGeom>
          <a:solidFill>
            <a:srgbClr val="172231"/>
          </a:solidFill>
          <a:ln w="9525">
            <a:solidFill>
              <a:srgbClr val="2A3A4E"/>
            </a:solidFill>
            <a:prstDash val="solid"/>
          </a:ln>
        </p:spPr>
      </p:sp>
      <p:sp>
        <p:nvSpPr>
          <p:cNvPr id="60" name="Text 57"/>
          <p:cNvSpPr txBox="1"/>
          <p:nvPr/>
        </p:nvSpPr>
        <p:spPr>
          <a:xfrm>
            <a:off x="8503920" y="5742432"/>
            <a:ext cx="3063240" cy="219456"/>
          </a:xfrm>
          <a:prstGeom prst="rect">
            <a:avLst/>
          </a:prstGeom>
          <a:noFill/>
          <a:ln/>
        </p:spPr>
        <p:txBody>
          <a:bodyPr wrap="square" lIns="0" tIns="0" rIns="0" bIns="0" rtlCol="0" anchor="t"/>
          <a:lstStyle/>
          <a:p>
            <a:pPr indent="0" marL="0">
              <a:buNone/>
            </a:pPr>
            <a:r>
              <a:rPr lang="en-US" sz="1100" b="1" dirty="0">
                <a:solidFill>
                  <a:srgbClr val="1E9BE3"/>
                </a:solidFill>
                <a:latin typeface="Arial" pitchFamily="34" charset="0"/>
                <a:ea typeface="Arial" pitchFamily="34" charset="-122"/>
                <a:cs typeface="Arial" pitchFamily="34" charset="-120"/>
              </a:rPr>
              <a:t>Reliability</a:t>
            </a:r>
            <a:endParaRPr lang="en-US" sz="1100" dirty="0"/>
          </a:p>
        </p:txBody>
      </p:sp>
      <p:sp>
        <p:nvSpPr>
          <p:cNvPr id="61" name="Text 58"/>
          <p:cNvSpPr txBox="1"/>
          <p:nvPr/>
        </p:nvSpPr>
        <p:spPr>
          <a:xfrm>
            <a:off x="8503920" y="5980176"/>
            <a:ext cx="3063240" cy="274320"/>
          </a:xfrm>
          <a:prstGeom prst="rect">
            <a:avLst/>
          </a:prstGeom>
          <a:noFill/>
          <a:ln/>
        </p:spPr>
        <p:txBody>
          <a:bodyPr wrap="square" lIns="0" tIns="0" rIns="0" bIns="0" rtlCol="0" anchor="t"/>
          <a:lstStyle/>
          <a:p>
            <a:pPr indent="0" marL="0">
              <a:buNone/>
            </a:pPr>
            <a:r>
              <a:rPr lang="en-US" sz="950" dirty="0">
                <a:solidFill>
                  <a:srgbClr val="C9D3DD"/>
                </a:solidFill>
                <a:latin typeface="Arial" pitchFamily="34" charset="0"/>
                <a:ea typeface="Arial" pitchFamily="34" charset="-122"/>
                <a:cs typeface="Arial" pitchFamily="34" charset="-120"/>
              </a:rPr>
              <a:t>Continuous run in lint; jams, faults, drift</a:t>
            </a:r>
            <a:endParaRPr lang="en-US" sz="950" dirty="0"/>
          </a:p>
        </p:txBody>
      </p:sp>
      <p:sp>
        <p:nvSpPr>
          <p:cNvPr id="62" name="Text 59"/>
          <p:cNvSpPr txBox="1"/>
          <p:nvPr/>
        </p:nvSpPr>
        <p:spPr>
          <a:xfrm>
            <a:off x="2194560" y="6217920"/>
            <a:ext cx="9555480" cy="228600"/>
          </a:xfrm>
          <a:prstGeom prst="rect">
            <a:avLst/>
          </a:prstGeom>
          <a:noFill/>
          <a:ln/>
        </p:spPr>
        <p:txBody>
          <a:bodyPr wrap="square" lIns="0" tIns="0" rIns="0" bIns="0" rtlCol="0" anchor="t"/>
          <a:lstStyle/>
          <a:p>
            <a:pPr indent="0" marL="0">
              <a:buNone/>
            </a:pPr>
            <a:r>
              <a:rPr lang="en-US" sz="1050" b="1" dirty="0">
                <a:solidFill>
                  <a:srgbClr val="E8EDF2"/>
                </a:solidFill>
                <a:latin typeface="Arial" pitchFamily="34" charset="0"/>
                <a:ea typeface="Arial" pitchFamily="34" charset="-122"/>
                <a:cs typeface="Arial" pitchFamily="34" charset="-120"/>
              </a:rPr>
              <a:t>Success criteria: </a:t>
            </a:r>
            <a:pPr indent="0" marL="0">
              <a:buNone/>
            </a:pPr>
            <a:r>
              <a:rPr lang="en-US" sz="1050" dirty="0">
                <a:solidFill>
                  <a:srgbClr val="C9D3DD"/>
                </a:solidFill>
                <a:latin typeface="Arial" pitchFamily="34" charset="0"/>
                <a:ea typeface="Arial" pitchFamily="34" charset="-122"/>
                <a:cs typeface="Arial" pitchFamily="34" charset="-120"/>
              </a:rPr>
              <a:t>200 garments/hr, stable stacks with no toppling, minimal operator intervention.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E9BE3"/>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72231"/>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10</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Status &amp; Timeline</a:t>
            </a:r>
            <a:endParaRPr lang="en-US" sz="2600" dirty="0"/>
          </a:p>
        </p:txBody>
      </p:sp>
      <p:sp>
        <p:nvSpPr>
          <p:cNvPr id="43" name="Text 41"/>
          <p:cNvSpPr txBox="1"/>
          <p:nvPr/>
        </p:nvSpPr>
        <p:spPr>
          <a:xfrm>
            <a:off x="2194560" y="1874520"/>
            <a:ext cx="13716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Status:</a:t>
            </a:r>
            <a:endParaRPr lang="en-US" sz="1200" dirty="0"/>
          </a:p>
        </p:txBody>
      </p:sp>
      <p:sp>
        <p:nvSpPr>
          <p:cNvPr id="44" name="Text 42"/>
          <p:cNvSpPr txBox="1"/>
          <p:nvPr/>
        </p:nvSpPr>
        <p:spPr>
          <a:xfrm>
            <a:off x="3611880" y="1874520"/>
            <a:ext cx="7315200" cy="274320"/>
          </a:xfrm>
          <a:prstGeom prst="rect">
            <a:avLst/>
          </a:prstGeom>
          <a:noFill/>
          <a:ln/>
        </p:spPr>
        <p:txBody>
          <a:bodyPr wrap="square" lIns="0" tIns="0" rIns="0" bIns="0" rtlCol="0" anchor="t"/>
          <a:lstStyle/>
          <a:p>
            <a:pPr indent="0" marL="0">
              <a:buNone/>
            </a:pPr>
            <a:r>
              <a:rPr lang="en-US" sz="1200" dirty="0">
                <a:solidFill>
                  <a:srgbClr val="C9D3DD"/>
                </a:solidFill>
                <a:latin typeface="Arial" pitchFamily="34" charset="0"/>
                <a:ea typeface="Arial" pitchFamily="34" charset="-122"/>
                <a:cs typeface="Arial" pitchFamily="34" charset="-120"/>
              </a:rPr>
              <a:t>Mid-fabrication (as of late September 2026)</a:t>
            </a:r>
            <a:endParaRPr lang="en-US" sz="1200" dirty="0"/>
          </a:p>
        </p:txBody>
      </p:sp>
      <p:sp>
        <p:nvSpPr>
          <p:cNvPr id="45" name="Text 43"/>
          <p:cNvSpPr txBox="1"/>
          <p:nvPr/>
        </p:nvSpPr>
        <p:spPr>
          <a:xfrm>
            <a:off x="2194560" y="2240280"/>
            <a:ext cx="13716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Current focus:</a:t>
            </a:r>
            <a:endParaRPr lang="en-US" sz="1200" dirty="0"/>
          </a:p>
        </p:txBody>
      </p:sp>
      <p:sp>
        <p:nvSpPr>
          <p:cNvPr id="46" name="Text 44"/>
          <p:cNvSpPr txBox="1"/>
          <p:nvPr/>
        </p:nvSpPr>
        <p:spPr>
          <a:xfrm>
            <a:off x="3611880" y="2240280"/>
            <a:ext cx="7315200" cy="274320"/>
          </a:xfrm>
          <a:prstGeom prst="rect">
            <a:avLst/>
          </a:prstGeom>
          <a:noFill/>
          <a:ln/>
        </p:spPr>
        <p:txBody>
          <a:bodyPr wrap="square" lIns="0" tIns="0" rIns="0" bIns="0" rtlCol="0" anchor="t"/>
          <a:lstStyle/>
          <a:p>
            <a:pPr indent="0" marL="0">
              <a:buNone/>
            </a:pPr>
            <a:r>
              <a:rPr lang="en-US" sz="1200" dirty="0">
                <a:solidFill>
                  <a:srgbClr val="C9D3DD"/>
                </a:solidFill>
                <a:latin typeface="Arial" pitchFamily="34" charset="0"/>
                <a:ea typeface="Arial" pitchFamily="34" charset="-122"/>
                <a:cs typeface="Arial" pitchFamily="34" charset="-120"/>
              </a:rPr>
              <a:t>Frame and lift assembly, shuttle machining, enclosures and wiring</a:t>
            </a:r>
            <a:endParaRPr lang="en-US" sz="1200" dirty="0"/>
          </a:p>
        </p:txBody>
      </p:sp>
      <p:sp>
        <p:nvSpPr>
          <p:cNvPr id="47" name="Text 45"/>
          <p:cNvSpPr txBox="1"/>
          <p:nvPr/>
        </p:nvSpPr>
        <p:spPr>
          <a:xfrm>
            <a:off x="2194560" y="2606040"/>
            <a:ext cx="13716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Next:</a:t>
            </a:r>
            <a:endParaRPr lang="en-US" sz="1200" dirty="0"/>
          </a:p>
        </p:txBody>
      </p:sp>
      <p:sp>
        <p:nvSpPr>
          <p:cNvPr id="48" name="Text 46"/>
          <p:cNvSpPr txBox="1"/>
          <p:nvPr/>
        </p:nvSpPr>
        <p:spPr>
          <a:xfrm>
            <a:off x="3611880" y="2606040"/>
            <a:ext cx="7315200" cy="274320"/>
          </a:xfrm>
          <a:prstGeom prst="rect">
            <a:avLst/>
          </a:prstGeom>
          <a:noFill/>
          <a:ln/>
        </p:spPr>
        <p:txBody>
          <a:bodyPr wrap="square" lIns="0" tIns="0" rIns="0" bIns="0" rtlCol="0" anchor="t"/>
          <a:lstStyle/>
          <a:p>
            <a:pPr indent="0" marL="0">
              <a:buNone/>
            </a:pPr>
            <a:r>
              <a:rPr lang="en-US" sz="1200" dirty="0">
                <a:solidFill>
                  <a:srgbClr val="C9D3DD"/>
                </a:solidFill>
                <a:latin typeface="Arial" pitchFamily="34" charset="0"/>
                <a:ea typeface="Arial" pitchFamily="34" charset="-122"/>
                <a:cs typeface="Arial" pitchFamily="34" charset="-120"/>
              </a:rPr>
              <a:t>Prototype rollout, testing against requirements, Design Fair handoff</a:t>
            </a:r>
            <a:endParaRPr lang="en-US" sz="1200" dirty="0"/>
          </a:p>
        </p:txBody>
      </p:sp>
      <p:sp>
        <p:nvSpPr>
          <p:cNvPr id="49" name="Shape 47"/>
          <p:cNvSpPr/>
          <p:nvPr/>
        </p:nvSpPr>
        <p:spPr>
          <a:xfrm>
            <a:off x="2194560" y="3154680"/>
            <a:ext cx="1764792" cy="1188720"/>
          </a:xfrm>
          <a:prstGeom prst="roundRect">
            <a:avLst>
              <a:gd name="adj" fmla="val 6154"/>
            </a:avLst>
          </a:prstGeom>
          <a:solidFill>
            <a:srgbClr val="1F2D3F"/>
          </a:solidFill>
          <a:ln w="9525">
            <a:solidFill>
              <a:srgbClr val="2A3A4E"/>
            </a:solidFill>
            <a:prstDash val="solid"/>
          </a:ln>
        </p:spPr>
      </p:sp>
      <p:sp>
        <p:nvSpPr>
          <p:cNvPr id="50" name="Text 48"/>
          <p:cNvSpPr txBox="1"/>
          <p:nvPr/>
        </p:nvSpPr>
        <p:spPr>
          <a:xfrm>
            <a:off x="2359152" y="3273552"/>
            <a:ext cx="1435608" cy="228600"/>
          </a:xfrm>
          <a:prstGeom prst="rect">
            <a:avLst/>
          </a:prstGeom>
          <a:noFill/>
          <a:ln/>
        </p:spPr>
        <p:txBody>
          <a:bodyPr wrap="square" lIns="0" tIns="0" rIns="0" bIns="0" rtlCol="0" anchor="t"/>
          <a:lstStyle/>
          <a:p>
            <a:pPr indent="0" marL="0">
              <a:buNone/>
            </a:pPr>
            <a:r>
              <a:rPr lang="en-US" sz="1000" b="1" dirty="0">
                <a:solidFill>
                  <a:srgbClr val="1E9BE3"/>
                </a:solidFill>
                <a:latin typeface="Courier New" pitchFamily="34" charset="0"/>
                <a:ea typeface="Courier New" pitchFamily="34" charset="-122"/>
                <a:cs typeface="Courier New" pitchFamily="34" charset="-120"/>
              </a:rPr>
              <a:t>Spring 2026  ✓</a:t>
            </a:r>
            <a:endParaRPr lang="en-US" sz="1000" dirty="0"/>
          </a:p>
        </p:txBody>
      </p:sp>
      <p:sp>
        <p:nvSpPr>
          <p:cNvPr id="51" name="Text 49"/>
          <p:cNvSpPr txBox="1"/>
          <p:nvPr/>
        </p:nvSpPr>
        <p:spPr>
          <a:xfrm>
            <a:off x="2359152" y="3566160"/>
            <a:ext cx="1435608" cy="685800"/>
          </a:xfrm>
          <a:prstGeom prst="rect">
            <a:avLst/>
          </a:prstGeom>
          <a:noFill/>
          <a:ln/>
        </p:spPr>
        <p:txBody>
          <a:bodyPr wrap="square" lIns="0" tIns="0" rIns="0" bIns="0" rtlCol="0" anchor="t"/>
          <a:lstStyle/>
          <a:p>
            <a:pPr indent="0" marL="0">
              <a:buNone/>
            </a:pPr>
            <a:r>
              <a:rPr lang="en-US" sz="1100" dirty="0">
                <a:solidFill>
                  <a:srgbClr val="E8EDF2"/>
                </a:solidFill>
                <a:latin typeface="Arial" pitchFamily="34" charset="0"/>
                <a:ea typeface="Arial" pitchFamily="34" charset="-122"/>
                <a:cs typeface="Arial" pitchFamily="34" charset="-120"/>
              </a:rPr>
              <a:t>Requirements, PDR/CDR, parts ordered</a:t>
            </a:r>
            <a:endParaRPr lang="en-US" sz="1100" dirty="0"/>
          </a:p>
        </p:txBody>
      </p:sp>
      <p:sp>
        <p:nvSpPr>
          <p:cNvPr id="52" name="Shape 50"/>
          <p:cNvSpPr/>
          <p:nvPr/>
        </p:nvSpPr>
        <p:spPr>
          <a:xfrm>
            <a:off x="4142232" y="3154680"/>
            <a:ext cx="1764792" cy="1188720"/>
          </a:xfrm>
          <a:prstGeom prst="roundRect">
            <a:avLst>
              <a:gd name="adj" fmla="val 6154"/>
            </a:avLst>
          </a:prstGeom>
          <a:solidFill>
            <a:srgbClr val="1E9BE3"/>
          </a:solidFill>
          <a:ln w="9525">
            <a:solidFill>
              <a:srgbClr val="1E9BE3"/>
            </a:solidFill>
            <a:prstDash val="solid"/>
          </a:ln>
        </p:spPr>
      </p:sp>
      <p:sp>
        <p:nvSpPr>
          <p:cNvPr id="53" name="Text 51"/>
          <p:cNvSpPr txBox="1"/>
          <p:nvPr/>
        </p:nvSpPr>
        <p:spPr>
          <a:xfrm>
            <a:off x="4306824" y="3273552"/>
            <a:ext cx="1435608" cy="228600"/>
          </a:xfrm>
          <a:prstGeom prst="rect">
            <a:avLst/>
          </a:prstGeom>
          <a:noFill/>
          <a:ln/>
        </p:spPr>
        <p:txBody>
          <a:bodyPr wrap="square" lIns="0" tIns="0" rIns="0" bIns="0" rtlCol="0" anchor="t"/>
          <a:lstStyle/>
          <a:p>
            <a:pPr indent="0" marL="0">
              <a:buNone/>
            </a:pPr>
            <a:r>
              <a:rPr lang="en-US" sz="1000" b="1" dirty="0">
                <a:solidFill>
                  <a:srgbClr val="FFFFFF"/>
                </a:solidFill>
                <a:latin typeface="Courier New" pitchFamily="34" charset="0"/>
                <a:ea typeface="Courier New" pitchFamily="34" charset="-122"/>
                <a:cs typeface="Courier New" pitchFamily="34" charset="-120"/>
              </a:rPr>
              <a:t>Sep–Oct 2026</a:t>
            </a:r>
            <a:endParaRPr lang="en-US" sz="1000" dirty="0"/>
          </a:p>
        </p:txBody>
      </p:sp>
      <p:sp>
        <p:nvSpPr>
          <p:cNvPr id="54" name="Text 52"/>
          <p:cNvSpPr txBox="1"/>
          <p:nvPr/>
        </p:nvSpPr>
        <p:spPr>
          <a:xfrm>
            <a:off x="4306824" y="3566160"/>
            <a:ext cx="1435608" cy="6858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Fabrication and assembly</a:t>
            </a:r>
            <a:endParaRPr lang="en-US" sz="1100" dirty="0"/>
          </a:p>
        </p:txBody>
      </p:sp>
      <p:sp>
        <p:nvSpPr>
          <p:cNvPr id="55" name="Shape 53"/>
          <p:cNvSpPr/>
          <p:nvPr/>
        </p:nvSpPr>
        <p:spPr>
          <a:xfrm>
            <a:off x="6089904" y="3154680"/>
            <a:ext cx="1764792" cy="1188720"/>
          </a:xfrm>
          <a:prstGeom prst="roundRect">
            <a:avLst>
              <a:gd name="adj" fmla="val 6154"/>
            </a:avLst>
          </a:prstGeom>
          <a:solidFill>
            <a:srgbClr val="172231"/>
          </a:solidFill>
          <a:ln w="9525">
            <a:solidFill>
              <a:srgbClr val="2A3A4E"/>
            </a:solidFill>
            <a:prstDash val="solid"/>
          </a:ln>
        </p:spPr>
      </p:sp>
      <p:sp>
        <p:nvSpPr>
          <p:cNvPr id="56" name="Text 54"/>
          <p:cNvSpPr txBox="1"/>
          <p:nvPr/>
        </p:nvSpPr>
        <p:spPr>
          <a:xfrm>
            <a:off x="6254496" y="3273552"/>
            <a:ext cx="1435608" cy="228600"/>
          </a:xfrm>
          <a:prstGeom prst="rect">
            <a:avLst/>
          </a:prstGeom>
          <a:noFill/>
          <a:ln/>
        </p:spPr>
        <p:txBody>
          <a:bodyPr wrap="square" lIns="0" tIns="0" rIns="0" bIns="0" rtlCol="0" anchor="t"/>
          <a:lstStyle/>
          <a:p>
            <a:pPr indent="0" marL="0">
              <a:buNone/>
            </a:pPr>
            <a:r>
              <a:rPr lang="en-US" sz="1000" b="1" dirty="0">
                <a:solidFill>
                  <a:srgbClr val="1E9BE3"/>
                </a:solidFill>
                <a:latin typeface="Courier New" pitchFamily="34" charset="0"/>
                <a:ea typeface="Courier New" pitchFamily="34" charset="-122"/>
                <a:cs typeface="Courier New" pitchFamily="34" charset="-120"/>
              </a:rPr>
              <a:t>Nov 3–5</a:t>
            </a:r>
            <a:endParaRPr lang="en-US" sz="1000" dirty="0"/>
          </a:p>
        </p:txBody>
      </p:sp>
      <p:sp>
        <p:nvSpPr>
          <p:cNvPr id="57" name="Text 55"/>
          <p:cNvSpPr txBox="1"/>
          <p:nvPr/>
        </p:nvSpPr>
        <p:spPr>
          <a:xfrm>
            <a:off x="6254496" y="3566160"/>
            <a:ext cx="1435608" cy="685800"/>
          </a:xfrm>
          <a:prstGeom prst="rect">
            <a:avLst/>
          </a:prstGeom>
          <a:noFill/>
          <a:ln/>
        </p:spPr>
        <p:txBody>
          <a:bodyPr wrap="square" lIns="0" tIns="0" rIns="0" bIns="0" rtlCol="0" anchor="t"/>
          <a:lstStyle/>
          <a:p>
            <a:pPr indent="0" marL="0">
              <a:buNone/>
            </a:pPr>
            <a:r>
              <a:rPr lang="en-US" sz="1100" dirty="0">
                <a:solidFill>
                  <a:srgbClr val="E8EDF2"/>
                </a:solidFill>
                <a:latin typeface="Arial" pitchFamily="34" charset="0"/>
                <a:ea typeface="Arial" pitchFamily="34" charset="-122"/>
                <a:cs typeface="Arial" pitchFamily="34" charset="-120"/>
              </a:rPr>
              <a:t>Prototype rollout</a:t>
            </a:r>
            <a:endParaRPr lang="en-US" sz="1100" dirty="0"/>
          </a:p>
        </p:txBody>
      </p:sp>
      <p:sp>
        <p:nvSpPr>
          <p:cNvPr id="58" name="Shape 56"/>
          <p:cNvSpPr/>
          <p:nvPr/>
        </p:nvSpPr>
        <p:spPr>
          <a:xfrm>
            <a:off x="8037576" y="3154680"/>
            <a:ext cx="1764792" cy="1188720"/>
          </a:xfrm>
          <a:prstGeom prst="roundRect">
            <a:avLst>
              <a:gd name="adj" fmla="val 6154"/>
            </a:avLst>
          </a:prstGeom>
          <a:solidFill>
            <a:srgbClr val="172231"/>
          </a:solidFill>
          <a:ln w="9525">
            <a:solidFill>
              <a:srgbClr val="2A3A4E"/>
            </a:solidFill>
            <a:prstDash val="solid"/>
          </a:ln>
        </p:spPr>
      </p:sp>
      <p:sp>
        <p:nvSpPr>
          <p:cNvPr id="59" name="Text 57"/>
          <p:cNvSpPr txBox="1"/>
          <p:nvPr/>
        </p:nvSpPr>
        <p:spPr>
          <a:xfrm>
            <a:off x="8202168" y="3273552"/>
            <a:ext cx="1435608" cy="228600"/>
          </a:xfrm>
          <a:prstGeom prst="rect">
            <a:avLst/>
          </a:prstGeom>
          <a:noFill/>
          <a:ln/>
        </p:spPr>
        <p:txBody>
          <a:bodyPr wrap="square" lIns="0" tIns="0" rIns="0" bIns="0" rtlCol="0" anchor="t"/>
          <a:lstStyle/>
          <a:p>
            <a:pPr indent="0" marL="0">
              <a:buNone/>
            </a:pPr>
            <a:r>
              <a:rPr lang="en-US" sz="1000" b="1" dirty="0">
                <a:solidFill>
                  <a:srgbClr val="1E9BE3"/>
                </a:solidFill>
                <a:latin typeface="Courier New" pitchFamily="34" charset="0"/>
                <a:ea typeface="Courier New" pitchFamily="34" charset="-122"/>
                <a:cs typeface="Courier New" pitchFamily="34" charset="-120"/>
              </a:rPr>
              <a:t>November</a:t>
            </a:r>
            <a:endParaRPr lang="en-US" sz="1000" dirty="0"/>
          </a:p>
        </p:txBody>
      </p:sp>
      <p:sp>
        <p:nvSpPr>
          <p:cNvPr id="60" name="Text 58"/>
          <p:cNvSpPr txBox="1"/>
          <p:nvPr/>
        </p:nvSpPr>
        <p:spPr>
          <a:xfrm>
            <a:off x="8202168" y="3566160"/>
            <a:ext cx="1435608" cy="685800"/>
          </a:xfrm>
          <a:prstGeom prst="rect">
            <a:avLst/>
          </a:prstGeom>
          <a:noFill/>
          <a:ln/>
        </p:spPr>
        <p:txBody>
          <a:bodyPr wrap="square" lIns="0" tIns="0" rIns="0" bIns="0" rtlCol="0" anchor="t"/>
          <a:lstStyle/>
          <a:p>
            <a:pPr indent="0" marL="0">
              <a:buNone/>
            </a:pPr>
            <a:r>
              <a:rPr lang="en-US" sz="1100" dirty="0">
                <a:solidFill>
                  <a:srgbClr val="E8EDF2"/>
                </a:solidFill>
                <a:latin typeface="Arial" pitchFamily="34" charset="0"/>
                <a:ea typeface="Arial" pitchFamily="34" charset="-122"/>
                <a:cs typeface="Arial" pitchFamily="34" charset="-120"/>
              </a:rPr>
              <a:t>Testing against requirements</a:t>
            </a:r>
            <a:endParaRPr lang="en-US" sz="1100" dirty="0"/>
          </a:p>
        </p:txBody>
      </p:sp>
      <p:sp>
        <p:nvSpPr>
          <p:cNvPr id="61" name="Shape 59"/>
          <p:cNvSpPr/>
          <p:nvPr/>
        </p:nvSpPr>
        <p:spPr>
          <a:xfrm>
            <a:off x="9985248" y="3154680"/>
            <a:ext cx="1764792" cy="1188720"/>
          </a:xfrm>
          <a:prstGeom prst="roundRect">
            <a:avLst>
              <a:gd name="adj" fmla="val 6154"/>
            </a:avLst>
          </a:prstGeom>
          <a:solidFill>
            <a:srgbClr val="172231"/>
          </a:solidFill>
          <a:ln w="9525">
            <a:solidFill>
              <a:srgbClr val="2A3A4E"/>
            </a:solidFill>
            <a:prstDash val="solid"/>
          </a:ln>
        </p:spPr>
      </p:sp>
      <p:sp>
        <p:nvSpPr>
          <p:cNvPr id="62" name="Text 60"/>
          <p:cNvSpPr txBox="1"/>
          <p:nvPr/>
        </p:nvSpPr>
        <p:spPr>
          <a:xfrm>
            <a:off x="10149840" y="3273552"/>
            <a:ext cx="1435608" cy="228600"/>
          </a:xfrm>
          <a:prstGeom prst="rect">
            <a:avLst/>
          </a:prstGeom>
          <a:noFill/>
          <a:ln/>
        </p:spPr>
        <p:txBody>
          <a:bodyPr wrap="square" lIns="0" tIns="0" rIns="0" bIns="0" rtlCol="0" anchor="t"/>
          <a:lstStyle/>
          <a:p>
            <a:pPr indent="0" marL="0">
              <a:buNone/>
            </a:pPr>
            <a:r>
              <a:rPr lang="en-US" sz="1000" b="1" dirty="0">
                <a:solidFill>
                  <a:srgbClr val="1E9BE3"/>
                </a:solidFill>
                <a:latin typeface="Courier New" pitchFamily="34" charset="0"/>
                <a:ea typeface="Courier New" pitchFamily="34" charset="-122"/>
                <a:cs typeface="Courier New" pitchFamily="34" charset="-120"/>
              </a:rPr>
              <a:t>Dec 10</a:t>
            </a:r>
            <a:endParaRPr lang="en-US" sz="1000" dirty="0"/>
          </a:p>
        </p:txBody>
      </p:sp>
      <p:sp>
        <p:nvSpPr>
          <p:cNvPr id="63" name="Text 61"/>
          <p:cNvSpPr txBox="1"/>
          <p:nvPr/>
        </p:nvSpPr>
        <p:spPr>
          <a:xfrm>
            <a:off x="10149840" y="3566160"/>
            <a:ext cx="1435608" cy="685800"/>
          </a:xfrm>
          <a:prstGeom prst="rect">
            <a:avLst/>
          </a:prstGeom>
          <a:noFill/>
          <a:ln/>
        </p:spPr>
        <p:txBody>
          <a:bodyPr wrap="square" lIns="0" tIns="0" rIns="0" bIns="0" rtlCol="0" anchor="t"/>
          <a:lstStyle/>
          <a:p>
            <a:pPr indent="0" marL="0">
              <a:buNone/>
            </a:pPr>
            <a:r>
              <a:rPr lang="en-US" sz="1100" dirty="0">
                <a:solidFill>
                  <a:srgbClr val="E8EDF2"/>
                </a:solidFill>
                <a:latin typeface="Arial" pitchFamily="34" charset="0"/>
                <a:ea typeface="Arial" pitchFamily="34" charset="-122"/>
                <a:cs typeface="Arial" pitchFamily="34" charset="-120"/>
              </a:rPr>
              <a:t>Design Fair &amp; sponsor handoff</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194560" y="4617720"/>
          <a:ext cx="9555480" cy="914400"/>
        </p:xfrm>
        <a:graphic>
          <a:graphicData uri="http://schemas.openxmlformats.org/drawingml/2006/table">
            <a:tbl>
              <a:tblPr/>
              <a:tblGrid>
                <a:gridCol w="2743200"/>
                <a:gridCol w="6812280"/>
              </a:tblGrid>
              <a:tr h="329184">
                <a:tc>
                  <a:txBody>
                    <a:bodyPr/>
                    <a:lstStyle/>
                    <a:p>
                      <a:pPr indent="0" marL="0">
                        <a:buNone/>
                      </a:pPr>
                      <a:r>
                        <a:rPr lang="en-US" sz="1100" b="1" dirty="0">
                          <a:solidFill>
                            <a:srgbClr val="E8EDF2"/>
                          </a:solidFill>
                          <a:latin typeface="Arial" pitchFamily="34" charset="0"/>
                          <a:ea typeface="Arial" pitchFamily="34" charset="-122"/>
                          <a:cs typeface="Arial" pitchFamily="34" charset="-120"/>
                        </a:rPr>
                        <a:t>Subsystem</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c>
                  <a:txBody>
                    <a:bodyPr/>
                    <a:lstStyle/>
                    <a:p>
                      <a:pPr indent="0" marL="0">
                        <a:buNone/>
                      </a:pPr>
                      <a:r>
                        <a:rPr lang="en-US" sz="1100" b="1" dirty="0">
                          <a:solidFill>
                            <a:srgbClr val="E8EDF2"/>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F2D3F"/>
                    </a:solidFill>
                  </a:tcPr>
                </a:tc>
              </a:tr>
              <a:tr h="329184">
                <a:tc>
                  <a:txBody>
                    <a:bodyPr/>
                    <a:lstStyle/>
                    <a:p>
                      <a:pPr indent="0" marL="0">
                        <a:buNone/>
                      </a:pPr>
                      <a:r>
                        <a:rPr lang="en-US" sz="1100" dirty="0">
                          <a:solidFill>
                            <a:srgbClr val="C9D3DD"/>
                          </a:solidFill>
                          <a:latin typeface="Arial" pitchFamily="34" charset="0"/>
                          <a:ea typeface="Arial" pitchFamily="34" charset="-122"/>
                          <a:cs typeface="Arial" pitchFamily="34" charset="-120"/>
                        </a:rPr>
                        <a:t>Frame &amp; lift platform</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100" dirty="0">
                          <a:solidFill>
                            <a:srgbClr val="C9D3DD"/>
                          </a:solidFill>
                          <a:latin typeface="Arial" pitchFamily="34" charset="0"/>
                          <a:ea typeface="Arial" pitchFamily="34" charset="-122"/>
                          <a:cs typeface="Arial" pitchFamily="34" charset="-120"/>
                        </a:rPr>
                        <a:t>Aluminum extrusion cuts complete; assembly underway</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100" dirty="0">
                          <a:solidFill>
                            <a:srgbClr val="C9D3DD"/>
                          </a:solidFill>
                          <a:latin typeface="Arial" pitchFamily="34" charset="0"/>
                          <a:ea typeface="Arial" pitchFamily="34" charset="-122"/>
                          <a:cs typeface="Arial" pitchFamily="34" charset="-120"/>
                        </a:rPr>
                        <a:t>Shuttle conveyor</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100" dirty="0">
                          <a:solidFill>
                            <a:srgbClr val="C9D3DD"/>
                          </a:solidFill>
                          <a:latin typeface="Arial" pitchFamily="34" charset="0"/>
                          <a:ea typeface="Arial" pitchFamily="34" charset="-122"/>
                          <a:cs typeface="Arial" pitchFamily="34" charset="-120"/>
                        </a:rPr>
                        <a:t>Material ordered, machining next</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100" dirty="0">
                          <a:solidFill>
                            <a:srgbClr val="C9D3DD"/>
                          </a:solidFill>
                          <a:latin typeface="Arial" pitchFamily="34" charset="0"/>
                          <a:ea typeface="Arial" pitchFamily="34" charset="-122"/>
                          <a:cs typeface="Arial" pitchFamily="34" charset="-120"/>
                        </a:rPr>
                        <a:t>Electronics &amp; enclosures</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100" dirty="0">
                          <a:solidFill>
                            <a:srgbClr val="C9D3DD"/>
                          </a:solidFill>
                          <a:latin typeface="Arial" pitchFamily="34" charset="0"/>
                          <a:ea typeface="Arial" pitchFamily="34" charset="-122"/>
                          <a:cs typeface="Arial" pitchFamily="34" charset="-120"/>
                        </a:rPr>
                        <a:t>Enclosures and mounts printing, wiring instructions in progress</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r h="329184">
                <a:tc>
                  <a:txBody>
                    <a:bodyPr/>
                    <a:lstStyle/>
                    <a:p>
                      <a:pPr indent="0" marL="0">
                        <a:buNone/>
                      </a:pPr>
                      <a:r>
                        <a:rPr lang="en-US" sz="1100" dirty="0">
                          <a:solidFill>
                            <a:srgbClr val="C9D3DD"/>
                          </a:solidFill>
                          <a:latin typeface="Arial" pitchFamily="34" charset="0"/>
                          <a:ea typeface="Arial" pitchFamily="34" charset="-122"/>
                          <a:cs typeface="Arial" pitchFamily="34" charset="-120"/>
                        </a:rPr>
                        <a:t>Control software</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c>
                  <a:txBody>
                    <a:bodyPr/>
                    <a:lstStyle/>
                    <a:p>
                      <a:pPr indent="0" marL="0">
                        <a:buNone/>
                      </a:pPr>
                      <a:r>
                        <a:rPr lang="en-US" sz="1100" dirty="0">
                          <a:solidFill>
                            <a:srgbClr val="C9D3DD"/>
                          </a:solidFill>
                          <a:latin typeface="Arial" pitchFamily="34" charset="0"/>
                          <a:ea typeface="Arial" pitchFamily="34" charset="-122"/>
                          <a:cs typeface="Arial" pitchFamily="34" charset="-120"/>
                        </a:rPr>
                        <a:t>Begins after electrical assembly</a:t>
                      </a:r>
                      <a:endParaRPr lang="en-US" sz="1100" dirty="0">
                        <a:latin typeface="Arial" charset="0"/>
                        <a:ea typeface="Arial" charset="0"/>
                        <a:cs typeface="Arial" charset="0"/>
                      </a:endParaRPr>
                    </a:p>
                  </a:txBody>
                  <a:tcPr marL="64008" marR="64008" marT="64008" marB="64008" anchor="ctr">
                    <a:lnL w="9525" cap="flat" cmpd="sng" algn="ctr">
                      <a:solidFill>
                        <a:srgbClr val="2A3A4E"/>
                      </a:solidFill>
                      <a:prstDash val="solid"/>
                      <a:round/>
                      <a:headEnd type="none" w="med" len="med"/>
                      <a:tailEnd type="none" w="med" len="med"/>
                    </a:lnL>
                    <a:lnR w="9525" cap="flat" cmpd="sng" algn="ctr">
                      <a:solidFill>
                        <a:srgbClr val="2A3A4E"/>
                      </a:solidFill>
                      <a:prstDash val="solid"/>
                      <a:round/>
                      <a:headEnd type="none" w="med" len="med"/>
                      <a:tailEnd type="none" w="med" len="med"/>
                    </a:lnR>
                    <a:lnT w="9525" cap="flat" cmpd="sng" algn="ctr">
                      <a:solidFill>
                        <a:srgbClr val="2A3A4E"/>
                      </a:solidFill>
                      <a:prstDash val="solid"/>
                      <a:round/>
                      <a:headEnd type="none" w="med" len="med"/>
                      <a:tailEnd type="none" w="med" len="med"/>
                    </a:lnT>
                    <a:lnB w="9525" cap="flat" cmpd="sng" algn="ctr">
                      <a:solidFill>
                        <a:srgbClr val="2A3A4E"/>
                      </a:solidFill>
                      <a:prstDash val="solid"/>
                      <a:round/>
                      <a:headEnd type="none" w="med" len="med"/>
                      <a:tailEnd type="none" w="med" len="med"/>
                    </a:lnB>
                    <a:solidFill>
                      <a:srgbClr val="17223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620"/>
        </a:solidFill>
      </p:bgPr>
    </p:bg>
    <p:spTree>
      <p:nvGrpSpPr>
        <p:cNvPr id="1" name=""/>
        <p:cNvGrpSpPr/>
        <p:nvPr/>
      </p:nvGrpSpPr>
      <p:grpSpPr>
        <a:xfrm>
          <a:off x="0" y="0"/>
          <a:ext cx="0" cy="0"/>
          <a:chOff x="0" y="0"/>
          <a:chExt cx="0" cy="0"/>
        </a:xfrm>
      </p:grpSpPr>
      <p:sp>
        <p:nvSpPr>
          <p:cNvPr id="2" name="Text 0"/>
          <p:cNvSpPr txBox="1"/>
          <p:nvPr/>
        </p:nvSpPr>
        <p:spPr>
          <a:xfrm>
            <a:off x="457200" y="201168"/>
            <a:ext cx="1828800" cy="274320"/>
          </a:xfrm>
          <a:prstGeom prst="rect">
            <a:avLst/>
          </a:prstGeom>
          <a:noFill/>
          <a:ln/>
        </p:spPr>
        <p:txBody>
          <a:bodyPr wrap="square" lIns="0" tIns="0" rIns="0" bIns="0" rtlCol="0" anchor="t"/>
          <a:lstStyle/>
          <a:p>
            <a:pPr indent="0" marL="0">
              <a:buNone/>
            </a:pPr>
            <a:r>
              <a:rPr lang="en-US" sz="1200" b="1" dirty="0">
                <a:solidFill>
                  <a:srgbClr val="E8EDF2"/>
                </a:solidFill>
                <a:latin typeface="Arial" pitchFamily="34" charset="0"/>
                <a:ea typeface="Arial" pitchFamily="34" charset="-122"/>
                <a:cs typeface="Arial" pitchFamily="34" charset="-120"/>
              </a:rPr>
              <a:t>Kordian.</a:t>
            </a:r>
            <a:endParaRPr lang="en-US" sz="1200" dirty="0"/>
          </a:p>
        </p:txBody>
      </p:sp>
      <p:sp>
        <p:nvSpPr>
          <p:cNvPr id="3" name="Text 1"/>
          <p:cNvSpPr txBox="1"/>
          <p:nvPr/>
        </p:nvSpPr>
        <p:spPr>
          <a:xfrm>
            <a:off x="6583680" y="219456"/>
            <a:ext cx="4206240" cy="274320"/>
          </a:xfrm>
          <a:prstGeom prst="rect">
            <a:avLst/>
          </a:prstGeom>
          <a:noFill/>
          <a:ln/>
        </p:spPr>
        <p:txBody>
          <a:bodyPr wrap="square" lIns="0" tIns="0" rIns="0" bIns="0" rtlCol="0" anchor="t"/>
          <a:lstStyle/>
          <a:p>
            <a:pPr indent="0" marL="0">
              <a:buNone/>
            </a:pPr>
            <a:r>
              <a:rPr lang="en-US" sz="1000" dirty="0">
                <a:solidFill>
                  <a:srgbClr val="93A1B0"/>
                </a:solidFill>
                <a:latin typeface="Arial" pitchFamily="34" charset="0"/>
                <a:ea typeface="Arial" pitchFamily="34" charset="-122"/>
                <a:cs typeface="Arial" pitchFamily="34" charset="-120"/>
              </a:rPr>
              <a:t>About    Projects    Skills    Experience    Goals    Contact</a:t>
            </a:r>
            <a:endParaRPr lang="en-US" sz="1000" dirty="0"/>
          </a:p>
        </p:txBody>
      </p:sp>
      <p:sp>
        <p:nvSpPr>
          <p:cNvPr id="4" name="Shape 2"/>
          <p:cNvSpPr/>
          <p:nvPr/>
        </p:nvSpPr>
        <p:spPr>
          <a:xfrm>
            <a:off x="10835640" y="155448"/>
            <a:ext cx="914400" cy="310896"/>
          </a:xfrm>
          <a:prstGeom prst="roundRect">
            <a:avLst>
              <a:gd name="adj" fmla="val 14706"/>
            </a:avLst>
          </a:prstGeom>
          <a:solidFill>
            <a:srgbClr val="1E9BE3"/>
          </a:solidFill>
          <a:ln w="12700">
            <a:solidFill>
              <a:srgbClr val="1E9BE3"/>
            </a:solidFill>
            <a:prstDash val="solid"/>
          </a:ln>
        </p:spPr>
      </p:sp>
      <p:sp>
        <p:nvSpPr>
          <p:cNvPr id="5" name="Text 3"/>
          <p:cNvSpPr txBox="1"/>
          <p:nvPr/>
        </p:nvSpPr>
        <p:spPr>
          <a:xfrm>
            <a:off x="10835640" y="155448"/>
            <a:ext cx="91440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View Resume</a:t>
            </a:r>
            <a:endParaRPr lang="en-US" sz="900" dirty="0"/>
          </a:p>
        </p:txBody>
      </p:sp>
      <p:sp>
        <p:nvSpPr>
          <p:cNvPr id="6" name="Shape 4"/>
          <p:cNvSpPr/>
          <p:nvPr/>
        </p:nvSpPr>
        <p:spPr>
          <a:xfrm>
            <a:off x="0" y="621792"/>
            <a:ext cx="12191695" cy="0"/>
          </a:xfrm>
          <a:prstGeom prst="line">
            <a:avLst/>
          </a:prstGeom>
          <a:noFill/>
          <a:ln w="9525">
            <a:solidFill>
              <a:srgbClr val="2A3A4E"/>
            </a:solidFill>
            <a:prstDash val="solid"/>
          </a:ln>
        </p:spPr>
      </p:sp>
      <p:sp>
        <p:nvSpPr>
          <p:cNvPr id="7" name="Shape 5"/>
          <p:cNvSpPr/>
          <p:nvPr/>
        </p:nvSpPr>
        <p:spPr>
          <a:xfrm>
            <a:off x="274320" y="1033272"/>
            <a:ext cx="1691640" cy="4809744"/>
          </a:xfrm>
          <a:prstGeom prst="roundRect">
            <a:avLst>
              <a:gd name="adj" fmla="val 4324"/>
            </a:avLst>
          </a:prstGeom>
          <a:solidFill>
            <a:srgbClr val="172231"/>
          </a:solidFill>
          <a:ln w="9525">
            <a:solidFill>
              <a:srgbClr val="2A3A4E"/>
            </a:solidFill>
            <a:prstDash val="solid"/>
          </a:ln>
        </p:spPr>
      </p:sp>
      <p:sp>
        <p:nvSpPr>
          <p:cNvPr id="8" name="Shape 6"/>
          <p:cNvSpPr/>
          <p:nvPr/>
        </p:nvSpPr>
        <p:spPr>
          <a:xfrm>
            <a:off x="411480" y="1234440"/>
            <a:ext cx="109728" cy="109728"/>
          </a:xfrm>
          <a:prstGeom prst="ellipse">
            <a:avLst/>
          </a:prstGeom>
          <a:solidFill>
            <a:srgbClr val="172231"/>
          </a:solidFill>
          <a:ln w="9525">
            <a:solidFill>
              <a:srgbClr val="1E9BE3"/>
            </a:solidFill>
            <a:prstDash val="solid"/>
          </a:ln>
        </p:spPr>
      </p:sp>
      <p:sp>
        <p:nvSpPr>
          <p:cNvPr id="9" name="Text 7"/>
          <p:cNvSpPr txBox="1"/>
          <p:nvPr/>
        </p:nvSpPr>
        <p:spPr>
          <a:xfrm>
            <a:off x="621792" y="114300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a:t>
            </a:r>
            <a:endParaRPr lang="en-US" sz="700" dirty="0"/>
          </a:p>
        </p:txBody>
      </p:sp>
      <p:sp>
        <p:nvSpPr>
          <p:cNvPr id="10" name="Text 8"/>
          <p:cNvSpPr txBox="1"/>
          <p:nvPr/>
        </p:nvSpPr>
        <p:spPr>
          <a:xfrm>
            <a:off x="621792" y="128930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Overview</a:t>
            </a:r>
            <a:endParaRPr lang="en-US" sz="800" dirty="0"/>
          </a:p>
        </p:txBody>
      </p:sp>
      <p:sp>
        <p:nvSpPr>
          <p:cNvPr id="11" name="Shape 9"/>
          <p:cNvSpPr/>
          <p:nvPr/>
        </p:nvSpPr>
        <p:spPr>
          <a:xfrm>
            <a:off x="411480" y="1655064"/>
            <a:ext cx="109728" cy="109728"/>
          </a:xfrm>
          <a:prstGeom prst="ellipse">
            <a:avLst/>
          </a:prstGeom>
          <a:solidFill>
            <a:srgbClr val="172231"/>
          </a:solidFill>
          <a:ln w="9525">
            <a:solidFill>
              <a:srgbClr val="1E9BE3"/>
            </a:solidFill>
            <a:prstDash val="solid"/>
          </a:ln>
        </p:spPr>
      </p:sp>
      <p:sp>
        <p:nvSpPr>
          <p:cNvPr id="12" name="Text 10"/>
          <p:cNvSpPr txBox="1"/>
          <p:nvPr/>
        </p:nvSpPr>
        <p:spPr>
          <a:xfrm>
            <a:off x="621792" y="156362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2</a:t>
            </a:r>
            <a:endParaRPr lang="en-US" sz="700" dirty="0"/>
          </a:p>
        </p:txBody>
      </p:sp>
      <p:sp>
        <p:nvSpPr>
          <p:cNvPr id="13" name="Text 11"/>
          <p:cNvSpPr txBox="1"/>
          <p:nvPr/>
        </p:nvSpPr>
        <p:spPr>
          <a:xfrm>
            <a:off x="621792" y="170992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Requirements</a:t>
            </a:r>
            <a:endParaRPr lang="en-US" sz="800" dirty="0"/>
          </a:p>
        </p:txBody>
      </p:sp>
      <p:sp>
        <p:nvSpPr>
          <p:cNvPr id="14" name="Shape 12"/>
          <p:cNvSpPr/>
          <p:nvPr/>
        </p:nvSpPr>
        <p:spPr>
          <a:xfrm>
            <a:off x="411480" y="2075688"/>
            <a:ext cx="109728" cy="109728"/>
          </a:xfrm>
          <a:prstGeom prst="ellipse">
            <a:avLst/>
          </a:prstGeom>
          <a:solidFill>
            <a:srgbClr val="172231"/>
          </a:solidFill>
          <a:ln w="9525">
            <a:solidFill>
              <a:srgbClr val="1E9BE3"/>
            </a:solidFill>
            <a:prstDash val="solid"/>
          </a:ln>
        </p:spPr>
      </p:sp>
      <p:sp>
        <p:nvSpPr>
          <p:cNvPr id="15" name="Text 13"/>
          <p:cNvSpPr txBox="1"/>
          <p:nvPr/>
        </p:nvSpPr>
        <p:spPr>
          <a:xfrm>
            <a:off x="621792" y="198424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3</a:t>
            </a:r>
            <a:endParaRPr lang="en-US" sz="700" dirty="0"/>
          </a:p>
        </p:txBody>
      </p:sp>
      <p:sp>
        <p:nvSpPr>
          <p:cNvPr id="16" name="Text 14"/>
          <p:cNvSpPr txBox="1"/>
          <p:nvPr/>
        </p:nvSpPr>
        <p:spPr>
          <a:xfrm>
            <a:off x="621792" y="213055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How It Works</a:t>
            </a:r>
            <a:endParaRPr lang="en-US" sz="800" dirty="0"/>
          </a:p>
        </p:txBody>
      </p:sp>
      <p:sp>
        <p:nvSpPr>
          <p:cNvPr id="17" name="Shape 15"/>
          <p:cNvSpPr/>
          <p:nvPr/>
        </p:nvSpPr>
        <p:spPr>
          <a:xfrm>
            <a:off x="411480" y="2496312"/>
            <a:ext cx="109728" cy="109728"/>
          </a:xfrm>
          <a:prstGeom prst="ellipse">
            <a:avLst/>
          </a:prstGeom>
          <a:solidFill>
            <a:srgbClr val="172231"/>
          </a:solidFill>
          <a:ln w="9525">
            <a:solidFill>
              <a:srgbClr val="1E9BE3"/>
            </a:solidFill>
            <a:prstDash val="solid"/>
          </a:ln>
        </p:spPr>
      </p:sp>
      <p:sp>
        <p:nvSpPr>
          <p:cNvPr id="18" name="Text 16"/>
          <p:cNvSpPr txBox="1"/>
          <p:nvPr/>
        </p:nvSpPr>
        <p:spPr>
          <a:xfrm>
            <a:off x="621792" y="240487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4</a:t>
            </a:r>
            <a:endParaRPr lang="en-US" sz="700" dirty="0"/>
          </a:p>
        </p:txBody>
      </p:sp>
      <p:sp>
        <p:nvSpPr>
          <p:cNvPr id="19" name="Text 17"/>
          <p:cNvSpPr txBox="1"/>
          <p:nvPr/>
        </p:nvSpPr>
        <p:spPr>
          <a:xfrm>
            <a:off x="621792" y="255117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System Architecture</a:t>
            </a:r>
            <a:endParaRPr lang="en-US" sz="800" dirty="0"/>
          </a:p>
        </p:txBody>
      </p:sp>
      <p:sp>
        <p:nvSpPr>
          <p:cNvPr id="20" name="Shape 18"/>
          <p:cNvSpPr/>
          <p:nvPr/>
        </p:nvSpPr>
        <p:spPr>
          <a:xfrm>
            <a:off x="411480" y="2916936"/>
            <a:ext cx="109728" cy="109728"/>
          </a:xfrm>
          <a:prstGeom prst="ellipse">
            <a:avLst/>
          </a:prstGeom>
          <a:solidFill>
            <a:srgbClr val="172231"/>
          </a:solidFill>
          <a:ln w="9525">
            <a:solidFill>
              <a:srgbClr val="1E9BE3"/>
            </a:solidFill>
            <a:prstDash val="solid"/>
          </a:ln>
        </p:spPr>
      </p:sp>
      <p:sp>
        <p:nvSpPr>
          <p:cNvPr id="21" name="Text 19"/>
          <p:cNvSpPr txBox="1"/>
          <p:nvPr/>
        </p:nvSpPr>
        <p:spPr>
          <a:xfrm>
            <a:off x="621792" y="282549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5</a:t>
            </a:r>
            <a:endParaRPr lang="en-US" sz="700" dirty="0"/>
          </a:p>
        </p:txBody>
      </p:sp>
      <p:sp>
        <p:nvSpPr>
          <p:cNvPr id="22" name="Text 20"/>
          <p:cNvSpPr txBox="1"/>
          <p:nvPr/>
        </p:nvSpPr>
        <p:spPr>
          <a:xfrm>
            <a:off x="621792" y="297180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Frame &amp; Platform</a:t>
            </a:r>
            <a:endParaRPr lang="en-US" sz="800" dirty="0"/>
          </a:p>
        </p:txBody>
      </p:sp>
      <p:sp>
        <p:nvSpPr>
          <p:cNvPr id="23" name="Shape 21"/>
          <p:cNvSpPr/>
          <p:nvPr/>
        </p:nvSpPr>
        <p:spPr>
          <a:xfrm>
            <a:off x="411480" y="3337560"/>
            <a:ext cx="109728" cy="109728"/>
          </a:xfrm>
          <a:prstGeom prst="ellipse">
            <a:avLst/>
          </a:prstGeom>
          <a:solidFill>
            <a:srgbClr val="172231"/>
          </a:solidFill>
          <a:ln w="9525">
            <a:solidFill>
              <a:srgbClr val="1E9BE3"/>
            </a:solidFill>
            <a:prstDash val="solid"/>
          </a:ln>
        </p:spPr>
      </p:sp>
      <p:sp>
        <p:nvSpPr>
          <p:cNvPr id="24" name="Text 22"/>
          <p:cNvSpPr txBox="1"/>
          <p:nvPr/>
        </p:nvSpPr>
        <p:spPr>
          <a:xfrm>
            <a:off x="621792" y="3246120"/>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6</a:t>
            </a:r>
            <a:endParaRPr lang="en-US" sz="700" dirty="0"/>
          </a:p>
        </p:txBody>
      </p:sp>
      <p:sp>
        <p:nvSpPr>
          <p:cNvPr id="25" name="Text 23"/>
          <p:cNvSpPr txBox="1"/>
          <p:nvPr/>
        </p:nvSpPr>
        <p:spPr>
          <a:xfrm>
            <a:off x="621792" y="3392424"/>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Shuttle Conveyor</a:t>
            </a:r>
            <a:endParaRPr lang="en-US" sz="800" dirty="0"/>
          </a:p>
        </p:txBody>
      </p:sp>
      <p:sp>
        <p:nvSpPr>
          <p:cNvPr id="26" name="Shape 24"/>
          <p:cNvSpPr/>
          <p:nvPr/>
        </p:nvSpPr>
        <p:spPr>
          <a:xfrm>
            <a:off x="411480" y="3758184"/>
            <a:ext cx="109728" cy="109728"/>
          </a:xfrm>
          <a:prstGeom prst="ellipse">
            <a:avLst/>
          </a:prstGeom>
          <a:solidFill>
            <a:srgbClr val="172231"/>
          </a:solidFill>
          <a:ln w="9525">
            <a:solidFill>
              <a:srgbClr val="1E9BE3"/>
            </a:solidFill>
            <a:prstDash val="solid"/>
          </a:ln>
        </p:spPr>
      </p:sp>
      <p:sp>
        <p:nvSpPr>
          <p:cNvPr id="27" name="Text 25"/>
          <p:cNvSpPr txBox="1"/>
          <p:nvPr/>
        </p:nvSpPr>
        <p:spPr>
          <a:xfrm>
            <a:off x="621792" y="3666744"/>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7</a:t>
            </a:r>
            <a:endParaRPr lang="en-US" sz="700" dirty="0"/>
          </a:p>
        </p:txBody>
      </p:sp>
      <p:sp>
        <p:nvSpPr>
          <p:cNvPr id="28" name="Text 26"/>
          <p:cNvSpPr txBox="1"/>
          <p:nvPr/>
        </p:nvSpPr>
        <p:spPr>
          <a:xfrm>
            <a:off x="621792" y="3813048"/>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Motion &amp; Timing</a:t>
            </a:r>
            <a:endParaRPr lang="en-US" sz="800" dirty="0"/>
          </a:p>
        </p:txBody>
      </p:sp>
      <p:sp>
        <p:nvSpPr>
          <p:cNvPr id="29" name="Shape 27"/>
          <p:cNvSpPr/>
          <p:nvPr/>
        </p:nvSpPr>
        <p:spPr>
          <a:xfrm>
            <a:off x="411480" y="4178808"/>
            <a:ext cx="109728" cy="109728"/>
          </a:xfrm>
          <a:prstGeom prst="ellipse">
            <a:avLst/>
          </a:prstGeom>
          <a:solidFill>
            <a:srgbClr val="172231"/>
          </a:solidFill>
          <a:ln w="9525">
            <a:solidFill>
              <a:srgbClr val="1E9BE3"/>
            </a:solidFill>
            <a:prstDash val="solid"/>
          </a:ln>
        </p:spPr>
      </p:sp>
      <p:sp>
        <p:nvSpPr>
          <p:cNvPr id="30" name="Text 28"/>
          <p:cNvSpPr txBox="1"/>
          <p:nvPr/>
        </p:nvSpPr>
        <p:spPr>
          <a:xfrm>
            <a:off x="621792" y="4087368"/>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8</a:t>
            </a:r>
            <a:endParaRPr lang="en-US" sz="700" dirty="0"/>
          </a:p>
        </p:txBody>
      </p:sp>
      <p:sp>
        <p:nvSpPr>
          <p:cNvPr id="31" name="Text 29"/>
          <p:cNvSpPr txBox="1"/>
          <p:nvPr/>
        </p:nvSpPr>
        <p:spPr>
          <a:xfrm>
            <a:off x="621792" y="4233672"/>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Electronics &amp; Controls</a:t>
            </a:r>
            <a:endParaRPr lang="en-US" sz="800" dirty="0"/>
          </a:p>
        </p:txBody>
      </p:sp>
      <p:sp>
        <p:nvSpPr>
          <p:cNvPr id="32" name="Shape 30"/>
          <p:cNvSpPr/>
          <p:nvPr/>
        </p:nvSpPr>
        <p:spPr>
          <a:xfrm>
            <a:off x="411480" y="4599432"/>
            <a:ext cx="109728" cy="109728"/>
          </a:xfrm>
          <a:prstGeom prst="ellipse">
            <a:avLst/>
          </a:prstGeom>
          <a:solidFill>
            <a:srgbClr val="172231"/>
          </a:solidFill>
          <a:ln w="9525">
            <a:solidFill>
              <a:srgbClr val="1E9BE3"/>
            </a:solidFill>
            <a:prstDash val="solid"/>
          </a:ln>
        </p:spPr>
      </p:sp>
      <p:sp>
        <p:nvSpPr>
          <p:cNvPr id="33" name="Text 31"/>
          <p:cNvSpPr txBox="1"/>
          <p:nvPr/>
        </p:nvSpPr>
        <p:spPr>
          <a:xfrm>
            <a:off x="621792" y="4507992"/>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9</a:t>
            </a:r>
            <a:endParaRPr lang="en-US" sz="700" dirty="0"/>
          </a:p>
        </p:txBody>
      </p:sp>
      <p:sp>
        <p:nvSpPr>
          <p:cNvPr id="34" name="Text 32"/>
          <p:cNvSpPr txBox="1"/>
          <p:nvPr/>
        </p:nvSpPr>
        <p:spPr>
          <a:xfrm>
            <a:off x="621792" y="4654296"/>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Integration &amp; Validation</a:t>
            </a:r>
            <a:endParaRPr lang="en-US" sz="800" dirty="0"/>
          </a:p>
        </p:txBody>
      </p:sp>
      <p:sp>
        <p:nvSpPr>
          <p:cNvPr id="35" name="Shape 33"/>
          <p:cNvSpPr/>
          <p:nvPr/>
        </p:nvSpPr>
        <p:spPr>
          <a:xfrm>
            <a:off x="411480" y="5020056"/>
            <a:ext cx="109728" cy="109728"/>
          </a:xfrm>
          <a:prstGeom prst="ellipse">
            <a:avLst/>
          </a:prstGeom>
          <a:solidFill>
            <a:srgbClr val="172231"/>
          </a:solidFill>
          <a:ln w="9525">
            <a:solidFill>
              <a:srgbClr val="1E9BE3"/>
            </a:solidFill>
            <a:prstDash val="solid"/>
          </a:ln>
        </p:spPr>
      </p:sp>
      <p:sp>
        <p:nvSpPr>
          <p:cNvPr id="36" name="Text 34"/>
          <p:cNvSpPr txBox="1"/>
          <p:nvPr/>
        </p:nvSpPr>
        <p:spPr>
          <a:xfrm>
            <a:off x="621792" y="4928616"/>
            <a:ext cx="1280160" cy="146304"/>
          </a:xfrm>
          <a:prstGeom prst="rect">
            <a:avLst/>
          </a:prstGeom>
          <a:noFill/>
          <a:ln/>
        </p:spPr>
        <p:txBody>
          <a:bodyPr wrap="square" lIns="0" tIns="0" rIns="0" bIns="0" rtlCol="0" anchor="t"/>
          <a:lstStyle/>
          <a:p>
            <a:pPr indent="0" marL="0">
              <a:buNone/>
            </a:pPr>
            <a:r>
              <a:rPr lang="en-US" sz="700" dirty="0">
                <a:solidFill>
                  <a:srgbClr val="4F7EA3"/>
                </a:solidFill>
                <a:latin typeface="Courier New" pitchFamily="34" charset="0"/>
                <a:ea typeface="Courier New" pitchFamily="34" charset="-122"/>
                <a:cs typeface="Courier New" pitchFamily="34" charset="-120"/>
              </a:rPr>
              <a:t>Section 10</a:t>
            </a:r>
            <a:endParaRPr lang="en-US" sz="700" dirty="0"/>
          </a:p>
        </p:txBody>
      </p:sp>
      <p:sp>
        <p:nvSpPr>
          <p:cNvPr id="37" name="Text 35"/>
          <p:cNvSpPr txBox="1"/>
          <p:nvPr/>
        </p:nvSpPr>
        <p:spPr>
          <a:xfrm>
            <a:off x="621792" y="5074920"/>
            <a:ext cx="1325880" cy="182880"/>
          </a:xfrm>
          <a:prstGeom prst="rect">
            <a:avLst/>
          </a:prstGeom>
          <a:noFill/>
          <a:ln/>
        </p:spPr>
        <p:txBody>
          <a:bodyPr wrap="square" lIns="0" tIns="0" rIns="0" bIns="0" rtlCol="0" anchor="t"/>
          <a:lstStyle/>
          <a:p>
            <a:pPr indent="0" marL="0">
              <a:buNone/>
            </a:pPr>
            <a:r>
              <a:rPr lang="en-US" sz="800" dirty="0">
                <a:solidFill>
                  <a:srgbClr val="93A1B0"/>
                </a:solidFill>
                <a:latin typeface="Arial" pitchFamily="34" charset="0"/>
                <a:ea typeface="Arial" pitchFamily="34" charset="-122"/>
                <a:cs typeface="Arial" pitchFamily="34" charset="-120"/>
              </a:rPr>
              <a:t>Status &amp; Timeline</a:t>
            </a:r>
            <a:endParaRPr lang="en-US" sz="800" dirty="0"/>
          </a:p>
        </p:txBody>
      </p:sp>
      <p:sp>
        <p:nvSpPr>
          <p:cNvPr id="38" name="Shape 36"/>
          <p:cNvSpPr/>
          <p:nvPr/>
        </p:nvSpPr>
        <p:spPr>
          <a:xfrm>
            <a:off x="411480" y="5440680"/>
            <a:ext cx="109728" cy="109728"/>
          </a:xfrm>
          <a:prstGeom prst="ellipse">
            <a:avLst/>
          </a:prstGeom>
          <a:solidFill>
            <a:srgbClr val="1E9BE3"/>
          </a:solidFill>
          <a:ln w="9525">
            <a:solidFill>
              <a:srgbClr val="1E9BE3"/>
            </a:solidFill>
            <a:prstDash val="solid"/>
          </a:ln>
        </p:spPr>
      </p:sp>
      <p:sp>
        <p:nvSpPr>
          <p:cNvPr id="39" name="Text 37"/>
          <p:cNvSpPr txBox="1"/>
          <p:nvPr/>
        </p:nvSpPr>
        <p:spPr>
          <a:xfrm>
            <a:off x="621792" y="5349240"/>
            <a:ext cx="1280160" cy="146304"/>
          </a:xfrm>
          <a:prstGeom prst="rect">
            <a:avLst/>
          </a:prstGeom>
          <a:noFill/>
          <a:ln/>
        </p:spPr>
        <p:txBody>
          <a:bodyPr wrap="square" lIns="0" tIns="0" rIns="0" bIns="0" rtlCol="0" anchor="t"/>
          <a:lstStyle/>
          <a:p>
            <a:pPr indent="0" marL="0">
              <a:buNone/>
            </a:pPr>
            <a:r>
              <a:rPr lang="en-US" sz="700" dirty="0">
                <a:solidFill>
                  <a:srgbClr val="1E9BE3"/>
                </a:solidFill>
                <a:latin typeface="Courier New" pitchFamily="34" charset="0"/>
                <a:ea typeface="Courier New" pitchFamily="34" charset="-122"/>
                <a:cs typeface="Courier New" pitchFamily="34" charset="-120"/>
              </a:rPr>
              <a:t>Section 11</a:t>
            </a:r>
            <a:endParaRPr lang="en-US" sz="700" dirty="0"/>
          </a:p>
        </p:txBody>
      </p:sp>
      <p:sp>
        <p:nvSpPr>
          <p:cNvPr id="40" name="Text 38"/>
          <p:cNvSpPr txBox="1"/>
          <p:nvPr/>
        </p:nvSpPr>
        <p:spPr>
          <a:xfrm>
            <a:off x="621792" y="5495544"/>
            <a:ext cx="1325880" cy="182880"/>
          </a:xfrm>
          <a:prstGeom prst="rect">
            <a:avLst/>
          </a:prstGeom>
          <a:noFill/>
          <a:ln/>
        </p:spPr>
        <p:txBody>
          <a:bodyPr wrap="square" lIns="0" tIns="0" rIns="0" bIns="0" rtlCol="0" anchor="t"/>
          <a:lstStyle/>
          <a:p>
            <a:pPr indent="0" marL="0">
              <a:buNone/>
            </a:pPr>
            <a:r>
              <a:rPr lang="en-US" sz="800" b="1" dirty="0">
                <a:solidFill>
                  <a:srgbClr val="E8EDF2"/>
                </a:solidFill>
                <a:latin typeface="Arial" pitchFamily="34" charset="0"/>
                <a:ea typeface="Arial" pitchFamily="34" charset="-122"/>
                <a:cs typeface="Arial" pitchFamily="34" charset="-120"/>
              </a:rPr>
              <a:t>Team &amp; Lessons</a:t>
            </a:r>
            <a:endParaRPr lang="en-US" sz="800" dirty="0"/>
          </a:p>
        </p:txBody>
      </p:sp>
      <p:sp>
        <p:nvSpPr>
          <p:cNvPr id="41" name="Text 39"/>
          <p:cNvSpPr txBox="1"/>
          <p:nvPr/>
        </p:nvSpPr>
        <p:spPr>
          <a:xfrm>
            <a:off x="2194560" y="868680"/>
            <a:ext cx="3657600" cy="274320"/>
          </a:xfrm>
          <a:prstGeom prst="rect">
            <a:avLst/>
          </a:prstGeom>
          <a:noFill/>
          <a:ln/>
        </p:spPr>
        <p:txBody>
          <a:bodyPr wrap="square" lIns="0" tIns="0" rIns="0" bIns="0" rtlCol="0" anchor="t"/>
          <a:lstStyle/>
          <a:p>
            <a:pPr indent="0" marL="0">
              <a:buNone/>
            </a:pPr>
            <a:r>
              <a:rPr lang="en-US" sz="1200" dirty="0">
                <a:solidFill>
                  <a:srgbClr val="1E9BE3"/>
                </a:solidFill>
                <a:latin typeface="Courier New" pitchFamily="34" charset="0"/>
                <a:ea typeface="Courier New" pitchFamily="34" charset="-122"/>
                <a:cs typeface="Courier New" pitchFamily="34" charset="-120"/>
              </a:rPr>
              <a:t>Section 11</a:t>
            </a:r>
            <a:endParaRPr lang="en-US" sz="1200" dirty="0"/>
          </a:p>
        </p:txBody>
      </p:sp>
      <p:sp>
        <p:nvSpPr>
          <p:cNvPr id="42" name="Text 40"/>
          <p:cNvSpPr txBox="1"/>
          <p:nvPr/>
        </p:nvSpPr>
        <p:spPr>
          <a:xfrm>
            <a:off x="2194560" y="1143000"/>
            <a:ext cx="9555480" cy="457200"/>
          </a:xfrm>
          <a:prstGeom prst="rect">
            <a:avLst/>
          </a:prstGeom>
          <a:noFill/>
          <a:ln/>
        </p:spPr>
        <p:txBody>
          <a:bodyPr wrap="square" lIns="0" tIns="0" rIns="0" bIns="0" rtlCol="0" anchor="t"/>
          <a:lstStyle/>
          <a:p>
            <a:pPr indent="0" marL="0">
              <a:buNone/>
            </a:pPr>
            <a:r>
              <a:rPr lang="en-US" sz="2600" b="1" dirty="0">
                <a:solidFill>
                  <a:srgbClr val="E8EDF2"/>
                </a:solidFill>
                <a:latin typeface="Arial" pitchFamily="34" charset="0"/>
                <a:ea typeface="Arial" pitchFamily="34" charset="-122"/>
                <a:cs typeface="Arial" pitchFamily="34" charset="-120"/>
              </a:rPr>
              <a:t>Team &amp; Lessons Learned</a:t>
            </a:r>
            <a:endParaRPr lang="en-US" sz="2600" dirty="0"/>
          </a:p>
        </p:txBody>
      </p:sp>
      <p:sp>
        <p:nvSpPr>
          <p:cNvPr id="43" name="Shape 41"/>
          <p:cNvSpPr/>
          <p:nvPr/>
        </p:nvSpPr>
        <p:spPr>
          <a:xfrm>
            <a:off x="2194560" y="1828800"/>
            <a:ext cx="4640580" cy="2926080"/>
          </a:xfrm>
          <a:prstGeom prst="roundRect">
            <a:avLst>
              <a:gd name="adj" fmla="val 2500"/>
            </a:avLst>
          </a:prstGeom>
          <a:solidFill>
            <a:srgbClr val="172231"/>
          </a:solidFill>
          <a:ln w="9525">
            <a:solidFill>
              <a:srgbClr val="2A3A4E"/>
            </a:solidFill>
            <a:prstDash val="solid"/>
          </a:ln>
        </p:spPr>
      </p:sp>
      <p:sp>
        <p:nvSpPr>
          <p:cNvPr id="44" name="Text 42"/>
          <p:cNvSpPr txBox="1"/>
          <p:nvPr/>
        </p:nvSpPr>
        <p:spPr>
          <a:xfrm>
            <a:off x="2423160" y="2011680"/>
            <a:ext cx="41833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Working as a Team</a:t>
            </a:r>
            <a:endParaRPr lang="en-US" sz="1300" dirty="0"/>
          </a:p>
        </p:txBody>
      </p:sp>
      <p:sp>
        <p:nvSpPr>
          <p:cNvPr id="45" name="Text 43"/>
          <p:cNvSpPr txBox="1"/>
          <p:nvPr/>
        </p:nvSpPr>
        <p:spPr>
          <a:xfrm>
            <a:off x="2423160" y="2377440"/>
            <a:ext cx="4229100" cy="3200400"/>
          </a:xfrm>
          <a:prstGeom prst="rect">
            <a:avLst/>
          </a:prstGeom>
          <a:noFill/>
          <a:ln/>
        </p:spPr>
        <p:txBody>
          <a:bodyPr wrap="square" lIns="0" tIns="0" rIns="0" bIns="0" rtlCol="0" anchor="t"/>
          <a:lstStyle/>
          <a:p>
            <a:pPr marL="152400" indent="-152400">
              <a:spcAft>
                <a:spcPts val="800"/>
              </a:spcAft>
              <a:buSzPct val="100000"/>
              <a:buChar char="•"/>
            </a:pPr>
            <a:r>
              <a:rPr lang="en-US" sz="1100" b="1" dirty="0">
                <a:solidFill>
                  <a:srgbClr val="E8EDF2"/>
                </a:solidFill>
                <a:latin typeface="Arial" pitchFamily="34" charset="0"/>
                <a:ea typeface="Arial" pitchFamily="34" charset="-122"/>
                <a:cs typeface="Arial" pitchFamily="34" charset="-120"/>
              </a:rPr>
              <a:t>Project management: </a:t>
            </a:r>
            <a:pPr indent="0" marL="0">
              <a:spcAft>
                <a:spcPts val="800"/>
              </a:spcAft>
              <a:buNone/>
            </a:pPr>
            <a:r>
              <a:rPr lang="en-US" sz="1100" dirty="0">
                <a:solidFill>
                  <a:srgbClr val="E8EDF2"/>
                </a:solidFill>
                <a:latin typeface="Arial" pitchFamily="34" charset="0"/>
                <a:ea typeface="Arial" pitchFamily="34" charset="-122"/>
                <a:cs typeface="Arial" pitchFamily="34" charset="-120"/>
              </a:rPr>
              <a:t>Gantt chart, rotating team leader, weekly memos to sponsor and advisor</a:t>
            </a:r>
            <a:endParaRPr lang="en-US" sz="1100" dirty="0"/>
          </a:p>
          <a:p>
            <a:pPr marL="152400" indent="-152400">
              <a:spcAft>
                <a:spcPts val="800"/>
              </a:spcAft>
              <a:buSzPct val="100000"/>
              <a:buChar char="•"/>
            </a:pPr>
            <a:r>
              <a:rPr lang="en-US" sz="1100" b="1" dirty="0">
                <a:solidFill>
                  <a:srgbClr val="E8EDF2"/>
                </a:solidFill>
                <a:latin typeface="Arial" pitchFamily="34" charset="0"/>
                <a:ea typeface="Arial" pitchFamily="34" charset="-122"/>
                <a:cs typeface="Arial" pitchFamily="34" charset="-120"/>
              </a:rPr>
              <a:t>Working with a client: </a:t>
            </a:r>
            <a:pPr indent="0" marL="0">
              <a:spcAft>
                <a:spcPts val="800"/>
              </a:spcAft>
              <a:buNone/>
            </a:pPr>
            <a:r>
              <a:rPr lang="en-US" sz="1100" dirty="0">
                <a:solidFill>
                  <a:srgbClr val="E8EDF2"/>
                </a:solidFill>
                <a:latin typeface="Arial" pitchFamily="34" charset="0"/>
                <a:ea typeface="Arial" pitchFamily="34" charset="-122"/>
                <a:cs typeface="Arial" pitchFamily="34" charset="-120"/>
              </a:rPr>
              <a:t>off-campus sponsor; needs written into Level 1 requirements signed by sponsor, advisor, and team</a:t>
            </a:r>
            <a:endParaRPr lang="en-US" sz="1100" dirty="0"/>
          </a:p>
          <a:p>
            <a:pPr marL="152400" indent="-152400">
              <a:spcAft>
                <a:spcPts val="800"/>
              </a:spcAft>
              <a:buSzPct val="100000"/>
              <a:buChar char="•"/>
            </a:pPr>
            <a:r>
              <a:rPr lang="en-US" sz="1100" b="1" dirty="0">
                <a:solidFill>
                  <a:srgbClr val="E8EDF2"/>
                </a:solidFill>
                <a:latin typeface="Arial" pitchFamily="34" charset="0"/>
                <a:ea typeface="Arial" pitchFamily="34" charset="-122"/>
                <a:cs typeface="Arial" pitchFamily="34" charset="-120"/>
              </a:rPr>
              <a:t>Teamwork: </a:t>
            </a:r>
            <a:pPr indent="0" marL="0">
              <a:spcAft>
                <a:spcPts val="800"/>
              </a:spcAft>
              <a:buNone/>
            </a:pPr>
            <a:r>
              <a:rPr lang="en-US" sz="1100" dirty="0">
                <a:solidFill>
                  <a:srgbClr val="E8EDF2"/>
                </a:solidFill>
                <a:latin typeface="Arial" pitchFamily="34" charset="0"/>
                <a:ea typeface="Arial" pitchFamily="34" charset="-122"/>
                <a:cs typeface="Arial" pitchFamily="34" charset="-120"/>
              </a:rPr>
              <a:t>ownership split by subsystem, with effort on mechanical–electrical interfaces</a:t>
            </a:r>
            <a:endParaRPr lang="en-US" sz="1100" dirty="0"/>
          </a:p>
          <a:p>
            <a:pPr marL="152400" indent="-152400">
              <a:spcAft>
                <a:spcPts val="800"/>
              </a:spcAft>
              <a:buSzPct val="100000"/>
              <a:buChar char="•"/>
            </a:pPr>
            <a:r>
              <a:rPr lang="en-US" sz="1100" b="1" dirty="0">
                <a:solidFill>
                  <a:srgbClr val="E8EDF2"/>
                </a:solidFill>
                <a:latin typeface="Arial" pitchFamily="34" charset="0"/>
                <a:ea typeface="Arial" pitchFamily="34" charset="-122"/>
                <a:cs typeface="Arial" pitchFamily="34" charset="-120"/>
              </a:rPr>
              <a:t>Coordination: </a:t>
            </a:r>
            <a:pPr indent="0" marL="0">
              <a:spcAft>
                <a:spcPts val="800"/>
              </a:spcAft>
              <a:buNone/>
            </a:pPr>
            <a:r>
              <a:rPr lang="en-US" sz="1100" dirty="0">
                <a:solidFill>
                  <a:srgbClr val="E8EDF2"/>
                </a:solidFill>
                <a:latin typeface="Arial" pitchFamily="34" charset="0"/>
                <a:ea typeface="Arial" pitchFamily="34" charset="-122"/>
                <a:cs typeface="Arial" pitchFamily="34" charset="-120"/>
              </a:rPr>
              <a:t>parts from ~23 vendors through the advisor, one shared BOM</a:t>
            </a:r>
            <a:endParaRPr lang="en-US" sz="1100" dirty="0"/>
          </a:p>
        </p:txBody>
      </p:sp>
      <p:sp>
        <p:nvSpPr>
          <p:cNvPr id="46" name="Shape 44"/>
          <p:cNvSpPr/>
          <p:nvPr/>
        </p:nvSpPr>
        <p:spPr>
          <a:xfrm>
            <a:off x="7109460" y="1828800"/>
            <a:ext cx="4640580" cy="2926080"/>
          </a:xfrm>
          <a:prstGeom prst="roundRect">
            <a:avLst>
              <a:gd name="adj" fmla="val 2500"/>
            </a:avLst>
          </a:prstGeom>
          <a:solidFill>
            <a:srgbClr val="172231"/>
          </a:solidFill>
          <a:ln w="9525">
            <a:solidFill>
              <a:srgbClr val="2A3A4E"/>
            </a:solidFill>
            <a:prstDash val="solid"/>
          </a:ln>
        </p:spPr>
      </p:sp>
      <p:sp>
        <p:nvSpPr>
          <p:cNvPr id="47" name="Text 45"/>
          <p:cNvSpPr txBox="1"/>
          <p:nvPr/>
        </p:nvSpPr>
        <p:spPr>
          <a:xfrm>
            <a:off x="7338060" y="2011680"/>
            <a:ext cx="4183380" cy="256032"/>
          </a:xfrm>
          <a:prstGeom prst="rect">
            <a:avLst/>
          </a:prstGeom>
          <a:noFill/>
          <a:ln/>
        </p:spPr>
        <p:txBody>
          <a:bodyPr wrap="square" lIns="0" tIns="0" rIns="0" bIns="0" rtlCol="0" anchor="t"/>
          <a:lstStyle/>
          <a:p>
            <a:pPr indent="0" marL="0">
              <a:buNone/>
            </a:pPr>
            <a:r>
              <a:rPr lang="en-US" sz="1300" b="1" dirty="0">
                <a:solidFill>
                  <a:srgbClr val="E8EDF2"/>
                </a:solidFill>
                <a:latin typeface="Arial" pitchFamily="34" charset="0"/>
                <a:ea typeface="Arial" pitchFamily="34" charset="-122"/>
                <a:cs typeface="Arial" pitchFamily="34" charset="-120"/>
              </a:rPr>
              <a:t>Lessons Learned</a:t>
            </a:r>
            <a:endParaRPr lang="en-US" sz="1300" dirty="0"/>
          </a:p>
        </p:txBody>
      </p:sp>
      <p:sp>
        <p:nvSpPr>
          <p:cNvPr id="48" name="Text 46"/>
          <p:cNvSpPr txBox="1"/>
          <p:nvPr/>
        </p:nvSpPr>
        <p:spPr>
          <a:xfrm>
            <a:off x="7338060" y="2377440"/>
            <a:ext cx="4229100" cy="3200400"/>
          </a:xfrm>
          <a:prstGeom prst="rect">
            <a:avLst/>
          </a:prstGeom>
          <a:noFill/>
          <a:ln/>
        </p:spPr>
        <p:txBody>
          <a:bodyPr wrap="square" lIns="0" tIns="0" rIns="0" bIns="0" rtlCol="0" anchor="t"/>
          <a:lstStyle/>
          <a:p>
            <a:pPr marL="152400" indent="-152400">
              <a:spcAft>
                <a:spcPts val="800"/>
              </a:spcAft>
              <a:buSzPct val="100000"/>
              <a:buChar char="•"/>
            </a:pPr>
            <a:r>
              <a:rPr lang="en-US" sz="1100" dirty="0">
                <a:solidFill>
                  <a:srgbClr val="E8EDF2"/>
                </a:solidFill>
                <a:latin typeface="Arial" pitchFamily="34" charset="0"/>
                <a:ea typeface="Arial" pitchFamily="34" charset="-122"/>
                <a:cs typeface="Arial" pitchFamily="34" charset="-120"/>
              </a:rPr>
              <a:t>Record and share design decisions more often, so everyone builds from the same design</a:t>
            </a:r>
            <a:endParaRPr lang="en-US" sz="1100" dirty="0"/>
          </a:p>
          <a:p>
            <a:pPr marL="152400" indent="-152400">
              <a:spcAft>
                <a:spcPts val="800"/>
              </a:spcAft>
              <a:buSzPct val="100000"/>
              <a:buChar char="•"/>
            </a:pPr>
            <a:r>
              <a:rPr lang="en-US" sz="1100" dirty="0">
                <a:solidFill>
                  <a:srgbClr val="E8EDF2"/>
                </a:solidFill>
                <a:latin typeface="Arial" pitchFamily="34" charset="0"/>
                <a:ea typeface="Arial" pitchFamily="34" charset="-122"/>
                <a:cs typeface="Arial" pitchFamily="34" charset="-120"/>
              </a:rPr>
              <a:t>One organized file structure with revision control for CAD, drawings, and analysis</a:t>
            </a:r>
            <a:endParaRPr lang="en-US" sz="1100" dirty="0"/>
          </a:p>
          <a:p>
            <a:pPr marL="152400" indent="-152400">
              <a:spcAft>
                <a:spcPts val="800"/>
              </a:spcAft>
              <a:buSzPct val="100000"/>
              <a:buChar char="•"/>
            </a:pPr>
            <a:r>
              <a:rPr lang="en-US" sz="1100" dirty="0">
                <a:solidFill>
                  <a:srgbClr val="E8EDF2"/>
                </a:solidFill>
                <a:latin typeface="Arial" pitchFamily="34" charset="0"/>
                <a:ea typeface="Arial" pitchFamily="34" charset="-122"/>
                <a:cs typeface="Arial" pitchFamily="34" charset="-120"/>
              </a:rPr>
              <a:t>Set an agenda for every meeting, with clear goals rather than open-ended discussion</a:t>
            </a:r>
            <a:endParaRPr lang="en-US" sz="1100" dirty="0"/>
          </a:p>
          <a:p>
            <a:pPr marL="152400" indent="-152400">
              <a:spcAft>
                <a:spcPts val="800"/>
              </a:spcAft>
              <a:buSzPct val="100000"/>
              <a:buChar char="•"/>
            </a:pPr>
            <a:r>
              <a:rPr lang="en-US" sz="1100" dirty="0">
                <a:solidFill>
                  <a:srgbClr val="E8EDF2"/>
                </a:solidFill>
                <a:latin typeface="Arial" pitchFamily="34" charset="0"/>
                <a:ea typeface="Arial" pitchFamily="34" charset="-122"/>
                <a:cs typeface="Arial" pitchFamily="34" charset="-120"/>
              </a:rPr>
              <a:t>Ask for help early; a quick question beats days spent stuck</a:t>
            </a:r>
            <a:endParaRPr lang="en-US" sz="1100" dirty="0"/>
          </a:p>
        </p:txBody>
      </p:sp>
      <p:sp>
        <p:nvSpPr>
          <p:cNvPr id="49" name="Text 47"/>
          <p:cNvSpPr txBox="1"/>
          <p:nvPr/>
        </p:nvSpPr>
        <p:spPr>
          <a:xfrm>
            <a:off x="2194560" y="5074920"/>
            <a:ext cx="9555480" cy="274320"/>
          </a:xfrm>
          <a:prstGeom prst="rect">
            <a:avLst/>
          </a:prstGeom>
          <a:noFill/>
          <a:ln/>
        </p:spPr>
        <p:txBody>
          <a:bodyPr wrap="square" lIns="0" tIns="0" rIns="0" bIns="0" rtlCol="0" anchor="t"/>
          <a:lstStyle/>
          <a:p>
            <a:pPr algn="ctr" indent="0" marL="0">
              <a:buNone/>
            </a:pPr>
            <a:r>
              <a:rPr lang="en-US" sz="1050" i="1" dirty="0">
                <a:solidFill>
                  <a:srgbClr val="93A1B0"/>
                </a:solidFill>
                <a:latin typeface="Arial" pitchFamily="34" charset="0"/>
                <a:ea typeface="Arial" pitchFamily="34" charset="-122"/>
                <a:cs typeface="Arial" pitchFamily="34" charset="-120"/>
              </a:rPr>
              <a:t>Thanks to Paul Otsu and Headwaters Studio for sponsoring the project, and to our advisor, Adam Michalson.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T-Shirt Stacker - Portfolio Page Layout</dc:title>
  <dc:subject>PptxGenJS Presentation</dc:subject>
  <dc:creator>PptxGenJS</dc:creator>
  <cp:lastModifiedBy>PptxGenJS</cp:lastModifiedBy>
  <cp:revision>1</cp:revision>
  <dcterms:created xsi:type="dcterms:W3CDTF">2026-09-30T19:05:24Z</dcterms:created>
  <dcterms:modified xsi:type="dcterms:W3CDTF">2026-09-30T19:05:24Z</dcterms:modified>
</cp:coreProperties>
</file>